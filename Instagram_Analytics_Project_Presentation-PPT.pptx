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6"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88" r:id="rId34"/>
    <p:sldId id="289" r:id="rId35"/>
    <p:sldId id="290"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I analyzed 29,999 Instagram posts. The original CSV has 23 columns. I added three columns, so the final working dataset has 26. The notebook code contains 16 chart figures. Its last figure contains four small charts, so there are 19 chart panels altogether.</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want to understand what the dataset can tell us about Instagram post performance. The results can guide ideas, but they do not promise that a future post will perform the same way.</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dataset combines information about the post, the account, and the results of each post. One row means one post.</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We start with the raw rows and columns. Each step prepares the information so we can understand it and explain what we found.</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is the order I followed from loading the dataset through to the conclusion.</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loaded the Instagram CSV file into a pandas DataFrame. This made the data ready for checks and analysis.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Inspection is like checking the contents of a box before sorting it. I checked the size, a few example rows, each column’s type, blank values, and duplicates.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checked that the dataset had no blanks or duplicates. I converted the date fields from text into date and time format, then checked that the separate date fields agreed.</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These checks looked for values outside the expected range and labels that might have been typed inconsistently. All the checks passed.</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checked the main data-quality issues. The dataset passed these checks, so I kept all the rows and converted the date columns for analysis.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created three helpful columns. Total interactions combines four counts. Post year and post month come from the full post date.</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After cleaning and creating the three new columns, the dataset has 29,999 rows and 26 columns. This is the version I use in the analysis.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Exploratory data analysis means checking and studying the data to understand it better. For example, we can compare post types and see how engagement changes.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first reviewed the main measures of post performance. These help describe how people interacted with posts and how widely the posts were shown.</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Univariate looks at one value. Bivariate compares two values. Multivariate studies three or more values at the same time.</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used charts to make the analysis easier to understand. The deck includes all 16 chart figures saved in the notebook.</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is univariate analysis. The histogram shows the spread of one measure, total interactions, across all posts.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used groupby to calculate one average for each media type. The differences are small and do not show that the format caused the result.</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is multivariate analysis. The pivot table lets us compare two group types together.</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 heatmap summarizes relationships between several measures at once. Followers gained has almost no linear relationship with the other measures here.</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I grouped posts by category and compared average engagement rates. The categories are similar in this dataset.</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line chart shows change over time. There are small month-to-month changes, but no large difference in the monthly averages.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scatter plot compares two numeric measures. Each dot is one post, and the colors show account type.</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 box plot shows the middle half of the values, the median, and unusually high or low points.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chart adds the shape of the distribution to the comparison of media types.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chart describes which account types are represented in the dataset. It does not compare their post quality.</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interactive chart lets me explore individual posts. The presentation image is a still view of the chart.</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 chart shows group percentages, not proof that the call to action changed performance.</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chart shows posting volume over time. The ends of the dataset may be partial months, so their smaller totals need care.</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Each hexagon groups many posts, which helps when there are too many dots to show clearly.</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 total height shows all posts in a month, while each color shows one media type.</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final notebook figure has four panels, one each for likes, comments, shares, and saves. It is one figure but four charts.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These first three insights describe the small differences between formats and categories, and the mix of accounts in the dataset.</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The results show close averages for several comparisons. Reach and impressions are strongly related, but the analysis does not show that one caused the other.</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My recommendation is to test ideas on comparable posts and use more than one measure. This dataset points to questions, not a guaranteed formula for success.</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This project turns a large table into clear comparisons and possible next steps. It helps us ask better questions and make evidence-based content decisions. The results describe this dataset only.</a:t>
            </a:r>
          </a:p>
          <a:p>
            <a:endParaRPr/>
          </a:p>
          <a:p>
            <a:r>
              <a:t>Project materials: user-provided Instagram_Analytics.csv, Instagram_Analytics_Project.ipynb, and Data Analytics Final Project Guidelines.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3EFEBCB-3D0D-4E72-A9A6-738097D9377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595DD265-DC70-4D15-BE03-28005BC22EB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8D5220D-71EB-42BE-B5EF-FBDE10BEE22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18AD19F-95C8-45AE-B766-73B5FF46A39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59C22B95-440C-48AA-A05B-698C604D045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056AA82-0286-488C-8D97-8A1DE2202CA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06F3E73-7269-4F44-B058-01C4636730F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49A09878-970D-411A-8C9B-18B9FB395CB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F586F60-EA8B-4F6D-8E91-8258EA67F50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8603AE40-086E-416F-865E-D46D85F5280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A9249D7-AD25-4D25-8BD5-54C9FEEF9D5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text">
            <a:extLst>
              <a:ext uri="{FF2B5EF4-FFF2-40B4-BE49-F238E27FC236}">
                <a16:creationId xmlns:a16="http://schemas.microsoft.com/office/drawing/2014/main" id="{BC877FCC-E348-42DD-97CF-E4474189D337}"/>
              </a:ext>
            </a:extLst>
          </p:cNvPr>
          <p:cNvSpPr>
            <a:spLocks noGrp="1"/>
          </p:cNvSpPr>
          <p:nvPr/>
        </p:nvSpPr>
        <p:spPr>
          <a:xfrm>
            <a:off x="742950" y="590550"/>
            <a:ext cx="5715000" cy="228600"/>
          </a:xfrm>
          <a:prstGeom prst="rect">
            <a:avLst/>
          </a:prstGeom>
          <a:noFill/>
          <a:ln w="0">
            <a:noFill/>
            <a:prstDash val="solid"/>
          </a:ln>
        </p:spPr>
        <p:txBody>
          <a:bodyPr lIns="0" tIns="0" rIns="0" bIns="0" anchor="t">
            <a:normAutofit/>
          </a:bodyPr>
          <a:lstStyle>
            <a:defPPr algn="l">
              <a:defRPr sz="1275" b="1">
                <a:solidFill>
                  <a:srgbClr val="FFD5E5"/>
                </a:solidFill>
                <a:latin typeface="Arial"/>
                <a:ea typeface="Arial"/>
                <a:cs typeface="Arial"/>
              </a:defRPr>
            </a:defPPr>
          </a:lstStyle>
          <a:p>
            <a:pPr algn="l">
              <a:lnSpc>
                <a:spcPct val="104000"/>
              </a:lnSpc>
              <a:buNone/>
              <a:defRPr sz="1275" b="1">
                <a:solidFill>
                  <a:srgbClr val="FFD5E5"/>
                </a:solidFill>
                <a:latin typeface="Arial"/>
                <a:ea typeface="Arial"/>
                <a:cs typeface="Arial"/>
              </a:defRPr>
            </a:pPr>
            <a:r>
              <a:rPr sz="1275" b="1">
                <a:solidFill>
                  <a:srgbClr val="FFD5E5"/>
                </a:solidFill>
                <a:latin typeface="Arial"/>
                <a:ea typeface="Arial"/>
                <a:cs typeface="Arial"/>
              </a:rPr>
              <a:t>DATA ANALYTICS FINAL PROJECT</a:t>
            </a:r>
          </a:p>
        </p:txBody>
      </p:sp>
      <p:sp>
        <p:nvSpPr>
          <p:cNvPr id="3" name="text">
            <a:extLst>
              <a:ext uri="{FF2B5EF4-FFF2-40B4-BE49-F238E27FC236}">
                <a16:creationId xmlns:a16="http://schemas.microsoft.com/office/drawing/2014/main" id="{F020754B-12C7-474B-86D8-7432529A12EB}"/>
              </a:ext>
            </a:extLst>
          </p:cNvPr>
          <p:cNvSpPr>
            <a:spLocks noGrp="1"/>
          </p:cNvSpPr>
          <p:nvPr/>
        </p:nvSpPr>
        <p:spPr>
          <a:xfrm>
            <a:off x="742950" y="1028700"/>
            <a:ext cx="7800000" cy="1650000"/>
          </a:xfrm>
          <a:prstGeom prst="rect">
            <a:avLst/>
          </a:prstGeom>
          <a:noFill/>
          <a:ln w="0">
            <a:noFill/>
            <a:prstDash val="solid"/>
          </a:ln>
        </p:spPr>
        <p:txBody>
          <a:bodyPr lIns="0" tIns="0" rIns="0" bIns="0" anchor="t">
            <a:normAutofit/>
          </a:bodyPr>
          <a:lstStyle>
            <a:defPPr algn="l">
              <a:defRPr sz="3600" b="1">
                <a:solidFill>
                  <a:srgbClr val="FFFFFF"/>
                </a:solidFill>
                <a:latin typeface="Arial"/>
                <a:ea typeface="Arial"/>
                <a:cs typeface="Arial"/>
              </a:defRPr>
            </a:defPPr>
          </a:lstStyle>
          <a:p>
            <a:pPr algn="l">
              <a:lnSpc>
                <a:spcPct val="97000"/>
              </a:lnSpc>
              <a:buNone/>
              <a:defRPr sz="5400" b="1">
                <a:solidFill>
                  <a:srgbClr val="FFFFFF"/>
                </a:solidFill>
                <a:latin typeface="Arial"/>
                <a:ea typeface="Arial"/>
                <a:cs typeface="Arial"/>
              </a:defRPr>
            </a:pPr>
            <a:r>
              <a:rPr lang="en-US" sz="3600" b="1" dirty="0">
                <a:solidFill>
                  <a:srgbClr val="FFFFFF"/>
                </a:solidFill>
                <a:latin typeface="Arial"/>
                <a:ea typeface="Arial"/>
                <a:cs typeface="Arial"/>
              </a:rPr>
              <a:t>Project </a:t>
            </a:r>
            <a:r>
              <a:rPr lang="en-US" sz="3600" b="1" dirty="0" err="1">
                <a:solidFill>
                  <a:srgbClr val="FFFFFF"/>
                </a:solidFill>
                <a:latin typeface="Arial"/>
                <a:ea typeface="Arial"/>
                <a:cs typeface="Arial"/>
              </a:rPr>
              <a:t>Title:</a:t>
            </a:r>
            <a:r>
              <a:rPr sz="3600" b="1" dirty="0" err="1">
                <a:solidFill>
                  <a:srgbClr val="FFFFFF"/>
                </a:solidFill>
                <a:latin typeface="Arial"/>
                <a:ea typeface="Arial"/>
                <a:cs typeface="Arial"/>
              </a:rPr>
              <a:t>Instagram</a:t>
            </a:r>
            <a:r>
              <a:rPr sz="3600" b="1" dirty="0">
                <a:solidFill>
                  <a:srgbClr val="FFFFFF"/>
                </a:solidFill>
                <a:latin typeface="Arial"/>
                <a:ea typeface="Arial"/>
                <a:cs typeface="Arial"/>
              </a:rPr>
              <a:t> Analytics</a:t>
            </a:r>
          </a:p>
          <a:p>
            <a:pPr algn="l">
              <a:lnSpc>
                <a:spcPct val="97000"/>
              </a:lnSpc>
              <a:buNone/>
              <a:defRPr sz="2400" b="1">
                <a:solidFill>
                  <a:srgbClr val="FFFFFF"/>
                </a:solidFill>
                <a:latin typeface="Arial"/>
                <a:ea typeface="Arial"/>
                <a:cs typeface="Arial"/>
              </a:defRPr>
            </a:pPr>
            <a:r>
              <a:rPr sz="2400" b="1" dirty="0">
                <a:solidFill>
                  <a:srgbClr val="FFFFFF"/>
                </a:solidFill>
                <a:latin typeface="Arial"/>
                <a:ea typeface="Arial"/>
                <a:cs typeface="Arial"/>
              </a:rPr>
              <a:t>Data Cleaning and Exploratory Data Analysis</a:t>
            </a:r>
          </a:p>
        </p:txBody>
      </p:sp>
      <p:sp>
        <p:nvSpPr>
          <p:cNvPr id="4" name="accent-line">
            <a:extLst>
              <a:ext uri="{FF2B5EF4-FFF2-40B4-BE49-F238E27FC236}">
                <a16:creationId xmlns:a16="http://schemas.microsoft.com/office/drawing/2014/main" id="{763318D1-5CDA-4863-BE38-60983F996E14}"/>
              </a:ext>
            </a:extLst>
          </p:cNvPr>
          <p:cNvSpPr>
            <a:spLocks noGrp="1"/>
          </p:cNvSpPr>
          <p:nvPr/>
        </p:nvSpPr>
        <p:spPr>
          <a:xfrm>
            <a:off x="762000" y="2762250"/>
            <a:ext cx="1028700" cy="47625"/>
          </a:xfrm>
          <a:prstGeom prst="rect">
            <a:avLst/>
          </a:prstGeom>
          <a:solidFill>
            <a:srgbClr val="EB8C35"/>
          </a:solidFill>
          <a:ln w="0">
            <a:noFill/>
            <a:prstDash val="solid"/>
          </a:ln>
        </p:spPr>
        <p:txBody>
          <a:bodyPr/>
          <a:lstStyle/>
          <a:p>
            <a:endParaRPr lang="en-IN"/>
          </a:p>
        </p:txBody>
      </p:sp>
      <p:sp>
        <p:nvSpPr>
          <p:cNvPr id="5" name="text">
            <a:extLst>
              <a:ext uri="{FF2B5EF4-FFF2-40B4-BE49-F238E27FC236}">
                <a16:creationId xmlns:a16="http://schemas.microsoft.com/office/drawing/2014/main" id="{2183A81C-EE4D-4DBB-A606-8049D6161B4F}"/>
              </a:ext>
            </a:extLst>
          </p:cNvPr>
          <p:cNvSpPr>
            <a:spLocks noGrp="1"/>
          </p:cNvSpPr>
          <p:nvPr/>
        </p:nvSpPr>
        <p:spPr>
          <a:xfrm>
            <a:off x="762000" y="3105150"/>
            <a:ext cx="4000500" cy="457200"/>
          </a:xfrm>
          <a:prstGeom prst="rect">
            <a:avLst/>
          </a:prstGeom>
          <a:noFill/>
          <a:ln w="0">
            <a:noFill/>
            <a:prstDash val="solid"/>
          </a:ln>
        </p:spPr>
        <p:txBody>
          <a:bodyPr lIns="0" tIns="0" rIns="0" bIns="0" anchor="t">
            <a:normAutofit/>
          </a:bodyPr>
          <a:lstStyle>
            <a:defPPr algn="l">
              <a:defRPr sz="2400" b="1">
                <a:solidFill>
                  <a:srgbClr val="FFFFFF"/>
                </a:solidFill>
                <a:latin typeface="Arial"/>
                <a:ea typeface="Arial"/>
                <a:cs typeface="Arial"/>
              </a:defRPr>
            </a:defPPr>
          </a:lstStyle>
          <a:p>
            <a:pPr algn="l">
              <a:lnSpc>
                <a:spcPct val="104000"/>
              </a:lnSpc>
              <a:buNone/>
              <a:defRPr sz="2400" b="1">
                <a:solidFill>
                  <a:srgbClr val="FFFFFF"/>
                </a:solidFill>
                <a:latin typeface="Arial"/>
                <a:ea typeface="Arial"/>
                <a:cs typeface="Arial"/>
              </a:defRPr>
            </a:pPr>
            <a:r>
              <a:rPr sz="2400" b="1">
                <a:solidFill>
                  <a:srgbClr val="FFFFFF"/>
                </a:solidFill>
                <a:latin typeface="Arial"/>
                <a:ea typeface="Arial"/>
                <a:cs typeface="Arial"/>
              </a:rPr>
              <a:t>Presented by Shilpa</a:t>
            </a:r>
          </a:p>
        </p:txBody>
      </p:sp>
      <p:sp>
        <p:nvSpPr>
          <p:cNvPr id="6" name="text">
            <a:extLst>
              <a:ext uri="{FF2B5EF4-FFF2-40B4-BE49-F238E27FC236}">
                <a16:creationId xmlns:a16="http://schemas.microsoft.com/office/drawing/2014/main" id="{204C1E0E-C477-4E72-BD55-029E944EFAC9}"/>
              </a:ext>
            </a:extLst>
          </p:cNvPr>
          <p:cNvSpPr>
            <a:spLocks noGrp="1"/>
          </p:cNvSpPr>
          <p:nvPr/>
        </p:nvSpPr>
        <p:spPr>
          <a:xfrm>
            <a:off x="762000" y="3562350"/>
            <a:ext cx="4762500" cy="304800"/>
          </a:xfrm>
          <a:prstGeom prst="rect">
            <a:avLst/>
          </a:prstGeom>
          <a:noFill/>
          <a:ln w="0">
            <a:noFill/>
            <a:prstDash val="solid"/>
          </a:ln>
        </p:spPr>
        <p:txBody>
          <a:bodyPr lIns="0" tIns="0" rIns="0" bIns="0" anchor="t">
            <a:normAutofit/>
          </a:bodyPr>
          <a:lstStyle>
            <a:defPPr algn="l">
              <a:defRPr sz="1650" b="0">
                <a:solidFill>
                  <a:srgbClr val="F7EBF3"/>
                </a:solidFill>
                <a:latin typeface="Arial"/>
                <a:ea typeface="Arial"/>
                <a:cs typeface="Arial"/>
              </a:defRPr>
            </a:defPPr>
          </a:lstStyle>
          <a:p>
            <a:pPr algn="l">
              <a:lnSpc>
                <a:spcPct val="104000"/>
              </a:lnSpc>
              <a:buNone/>
              <a:defRPr sz="1650" b="0">
                <a:solidFill>
                  <a:srgbClr val="F7EBF3"/>
                </a:solidFill>
                <a:latin typeface="Arial"/>
                <a:ea typeface="Arial"/>
                <a:cs typeface="Arial"/>
              </a:defRPr>
            </a:pPr>
            <a:r>
              <a:rPr sz="1650" b="0">
                <a:solidFill>
                  <a:srgbClr val="F7EBF3"/>
                </a:solidFill>
                <a:latin typeface="Arial"/>
                <a:ea typeface="Arial"/>
                <a:cs typeface="Arial"/>
              </a:rPr>
              <a:t>Data Analytics course project</a:t>
            </a:r>
          </a:p>
        </p:txBody>
      </p:sp>
      <p:sp>
        <p:nvSpPr>
          <p:cNvPr id="7" name="text">
            <a:extLst>
              <a:ext uri="{FF2B5EF4-FFF2-40B4-BE49-F238E27FC236}">
                <a16:creationId xmlns:a16="http://schemas.microsoft.com/office/drawing/2014/main" id="{2ED41695-ABA9-40F7-A1BA-9E1AA322646F}"/>
              </a:ext>
            </a:extLst>
          </p:cNvPr>
          <p:cNvSpPr>
            <a:spLocks noGrp="1"/>
          </p:cNvSpPr>
          <p:nvPr/>
        </p:nvSpPr>
        <p:spPr>
          <a:xfrm>
            <a:off x="762000" y="4857750"/>
            <a:ext cx="2190750" cy="457200"/>
          </a:xfrm>
          <a:prstGeom prst="rect">
            <a:avLst/>
          </a:prstGeom>
          <a:noFill/>
          <a:ln w="0">
            <a:noFill/>
            <a:prstDash val="solid"/>
          </a:ln>
        </p:spPr>
        <p:txBody>
          <a:bodyPr lIns="0" tIns="0" rIns="0" bIns="0" anchor="t">
            <a:normAutofit/>
          </a:bodyPr>
          <a:lstStyle>
            <a:defPPr algn="l">
              <a:defRPr sz="2325" b="1">
                <a:solidFill>
                  <a:srgbClr val="FFFFFF"/>
                </a:solidFill>
                <a:latin typeface="Arial"/>
                <a:ea typeface="Arial"/>
                <a:cs typeface="Arial"/>
              </a:defRPr>
            </a:defPPr>
          </a:lstStyle>
          <a:p>
            <a:pPr algn="l">
              <a:lnSpc>
                <a:spcPct val="104000"/>
              </a:lnSpc>
              <a:buNone/>
              <a:defRPr sz="2325" b="1">
                <a:solidFill>
                  <a:srgbClr val="FFFFFF"/>
                </a:solidFill>
                <a:latin typeface="Arial"/>
                <a:ea typeface="Arial"/>
                <a:cs typeface="Arial"/>
              </a:defRPr>
            </a:pPr>
            <a:r>
              <a:rPr sz="2325" b="1">
                <a:solidFill>
                  <a:srgbClr val="FFFFFF"/>
                </a:solidFill>
                <a:latin typeface="Arial"/>
                <a:ea typeface="Arial"/>
                <a:cs typeface="Arial"/>
              </a:rPr>
              <a:t>29,999</a:t>
            </a:r>
          </a:p>
        </p:txBody>
      </p:sp>
      <p:sp>
        <p:nvSpPr>
          <p:cNvPr id="8" name="text">
            <a:extLst>
              <a:ext uri="{FF2B5EF4-FFF2-40B4-BE49-F238E27FC236}">
                <a16:creationId xmlns:a16="http://schemas.microsoft.com/office/drawing/2014/main" id="{45206DA9-7193-4AF3-BE9B-4C721423567A}"/>
              </a:ext>
            </a:extLst>
          </p:cNvPr>
          <p:cNvSpPr>
            <a:spLocks noGrp="1"/>
          </p:cNvSpPr>
          <p:nvPr/>
        </p:nvSpPr>
        <p:spPr>
          <a:xfrm>
            <a:off x="762000" y="5314950"/>
            <a:ext cx="2190750" cy="304800"/>
          </a:xfrm>
          <a:prstGeom prst="rect">
            <a:avLst/>
          </a:prstGeom>
          <a:noFill/>
          <a:ln w="0">
            <a:noFill/>
            <a:prstDash val="solid"/>
          </a:ln>
        </p:spPr>
        <p:txBody>
          <a:bodyPr lIns="0" tIns="0" rIns="0" bIns="0" anchor="t">
            <a:normAutofit/>
          </a:bodyPr>
          <a:lstStyle>
            <a:defPPr algn="l">
              <a:defRPr sz="1275" b="0">
                <a:solidFill>
                  <a:srgbClr val="F6EAF2"/>
                </a:solidFill>
                <a:latin typeface="Arial"/>
                <a:ea typeface="Arial"/>
                <a:cs typeface="Arial"/>
              </a:defRPr>
            </a:defPPr>
          </a:lstStyle>
          <a:p>
            <a:pPr algn="l">
              <a:lnSpc>
                <a:spcPct val="104000"/>
              </a:lnSpc>
              <a:buNone/>
              <a:defRPr sz="1275" b="0">
                <a:solidFill>
                  <a:srgbClr val="F6EAF2"/>
                </a:solidFill>
                <a:latin typeface="Arial"/>
                <a:ea typeface="Arial"/>
                <a:cs typeface="Arial"/>
              </a:defRPr>
            </a:pPr>
            <a:r>
              <a:rPr sz="1275" b="0">
                <a:solidFill>
                  <a:srgbClr val="F6EAF2"/>
                </a:solidFill>
                <a:latin typeface="Arial"/>
                <a:ea typeface="Arial"/>
                <a:cs typeface="Arial"/>
              </a:rPr>
              <a:t>posts</a:t>
            </a:r>
          </a:p>
        </p:txBody>
      </p:sp>
      <p:sp>
        <p:nvSpPr>
          <p:cNvPr id="9" name="text">
            <a:extLst>
              <a:ext uri="{FF2B5EF4-FFF2-40B4-BE49-F238E27FC236}">
                <a16:creationId xmlns:a16="http://schemas.microsoft.com/office/drawing/2014/main" id="{A9A5ED99-AB45-4038-84A2-43A618CC3A7A}"/>
              </a:ext>
            </a:extLst>
          </p:cNvPr>
          <p:cNvSpPr>
            <a:spLocks noGrp="1"/>
          </p:cNvSpPr>
          <p:nvPr/>
        </p:nvSpPr>
        <p:spPr>
          <a:xfrm>
            <a:off x="3486150" y="4857750"/>
            <a:ext cx="2190750" cy="457200"/>
          </a:xfrm>
          <a:prstGeom prst="rect">
            <a:avLst/>
          </a:prstGeom>
          <a:noFill/>
          <a:ln w="0">
            <a:noFill/>
            <a:prstDash val="solid"/>
          </a:ln>
        </p:spPr>
        <p:txBody>
          <a:bodyPr lIns="0" tIns="0" rIns="0" bIns="0" anchor="t">
            <a:normAutofit/>
          </a:bodyPr>
          <a:lstStyle>
            <a:defPPr algn="l">
              <a:defRPr sz="2325" b="1">
                <a:solidFill>
                  <a:srgbClr val="FFFFFF"/>
                </a:solidFill>
                <a:latin typeface="Arial"/>
                <a:ea typeface="Arial"/>
                <a:cs typeface="Arial"/>
              </a:defRPr>
            </a:defPPr>
          </a:lstStyle>
          <a:p>
            <a:pPr algn="l">
              <a:lnSpc>
                <a:spcPct val="104000"/>
              </a:lnSpc>
              <a:buNone/>
              <a:defRPr sz="2325" b="1">
                <a:solidFill>
                  <a:srgbClr val="FFFFFF"/>
                </a:solidFill>
                <a:latin typeface="Arial"/>
                <a:ea typeface="Arial"/>
                <a:cs typeface="Arial"/>
              </a:defRPr>
            </a:pPr>
            <a:r>
              <a:rPr sz="2325" b="1">
                <a:solidFill>
                  <a:srgbClr val="FFFFFF"/>
                </a:solidFill>
                <a:latin typeface="Arial"/>
                <a:ea typeface="Arial"/>
                <a:cs typeface="Arial"/>
              </a:rPr>
              <a:t>26</a:t>
            </a:r>
          </a:p>
        </p:txBody>
      </p:sp>
      <p:sp>
        <p:nvSpPr>
          <p:cNvPr id="10" name="text">
            <a:extLst>
              <a:ext uri="{FF2B5EF4-FFF2-40B4-BE49-F238E27FC236}">
                <a16:creationId xmlns:a16="http://schemas.microsoft.com/office/drawing/2014/main" id="{4D5F562F-743B-4F60-BB13-2498324E15BE}"/>
              </a:ext>
            </a:extLst>
          </p:cNvPr>
          <p:cNvSpPr>
            <a:spLocks noGrp="1"/>
          </p:cNvSpPr>
          <p:nvPr/>
        </p:nvSpPr>
        <p:spPr>
          <a:xfrm>
            <a:off x="3486150" y="5314950"/>
            <a:ext cx="2190750" cy="304800"/>
          </a:xfrm>
          <a:prstGeom prst="rect">
            <a:avLst/>
          </a:prstGeom>
          <a:noFill/>
          <a:ln w="0">
            <a:noFill/>
            <a:prstDash val="solid"/>
          </a:ln>
        </p:spPr>
        <p:txBody>
          <a:bodyPr lIns="0" tIns="0" rIns="0" bIns="0" anchor="t">
            <a:normAutofit/>
          </a:bodyPr>
          <a:lstStyle>
            <a:defPPr algn="l">
              <a:defRPr sz="1275" b="0">
                <a:solidFill>
                  <a:srgbClr val="F6EAF2"/>
                </a:solidFill>
                <a:latin typeface="Arial"/>
                <a:ea typeface="Arial"/>
                <a:cs typeface="Arial"/>
              </a:defRPr>
            </a:defPPr>
          </a:lstStyle>
          <a:p>
            <a:pPr algn="l">
              <a:lnSpc>
                <a:spcPct val="104000"/>
              </a:lnSpc>
              <a:buNone/>
              <a:defRPr sz="1275" b="0">
                <a:solidFill>
                  <a:srgbClr val="F6EAF2"/>
                </a:solidFill>
                <a:latin typeface="Arial"/>
                <a:ea typeface="Arial"/>
                <a:cs typeface="Arial"/>
              </a:defRPr>
            </a:pPr>
            <a:r>
              <a:rPr sz="1275" b="0">
                <a:solidFill>
                  <a:srgbClr val="F6EAF2"/>
                </a:solidFill>
                <a:latin typeface="Arial"/>
                <a:ea typeface="Arial"/>
                <a:cs typeface="Arial"/>
              </a:rPr>
              <a:t>working columns</a:t>
            </a:r>
          </a:p>
        </p:txBody>
      </p:sp>
      <p:sp>
        <p:nvSpPr>
          <p:cNvPr id="11" name="text">
            <a:extLst>
              <a:ext uri="{FF2B5EF4-FFF2-40B4-BE49-F238E27FC236}">
                <a16:creationId xmlns:a16="http://schemas.microsoft.com/office/drawing/2014/main" id="{9FEEE2DC-56D1-40C5-8637-B1B83D42D99B}"/>
              </a:ext>
            </a:extLst>
          </p:cNvPr>
          <p:cNvSpPr>
            <a:spLocks noGrp="1"/>
          </p:cNvSpPr>
          <p:nvPr/>
        </p:nvSpPr>
        <p:spPr>
          <a:xfrm>
            <a:off x="6210300" y="4857750"/>
            <a:ext cx="2190750" cy="457200"/>
          </a:xfrm>
          <a:prstGeom prst="rect">
            <a:avLst/>
          </a:prstGeom>
          <a:noFill/>
          <a:ln w="0">
            <a:noFill/>
            <a:prstDash val="solid"/>
          </a:ln>
        </p:spPr>
        <p:txBody>
          <a:bodyPr lIns="0" tIns="0" rIns="0" bIns="0" anchor="t">
            <a:normAutofit/>
          </a:bodyPr>
          <a:lstStyle>
            <a:defPPr algn="l">
              <a:defRPr sz="2325" b="1">
                <a:solidFill>
                  <a:srgbClr val="FFFFFF"/>
                </a:solidFill>
                <a:latin typeface="Arial"/>
                <a:ea typeface="Arial"/>
                <a:cs typeface="Arial"/>
              </a:defRPr>
            </a:defPPr>
          </a:lstStyle>
          <a:p>
            <a:pPr algn="l">
              <a:lnSpc>
                <a:spcPct val="104000"/>
              </a:lnSpc>
              <a:buNone/>
              <a:defRPr sz="2325" b="1">
                <a:solidFill>
                  <a:srgbClr val="FFFFFF"/>
                </a:solidFill>
                <a:latin typeface="Arial"/>
                <a:ea typeface="Arial"/>
                <a:cs typeface="Arial"/>
              </a:defRPr>
            </a:pPr>
            <a:r>
              <a:rPr sz="2325" b="1">
                <a:solidFill>
                  <a:srgbClr val="FFFFFF"/>
                </a:solidFill>
                <a:latin typeface="Arial"/>
                <a:ea typeface="Arial"/>
                <a:cs typeface="Arial"/>
              </a:rPr>
              <a:t>6</a:t>
            </a:r>
          </a:p>
        </p:txBody>
      </p:sp>
      <p:sp>
        <p:nvSpPr>
          <p:cNvPr id="12" name="text">
            <a:extLst>
              <a:ext uri="{FF2B5EF4-FFF2-40B4-BE49-F238E27FC236}">
                <a16:creationId xmlns:a16="http://schemas.microsoft.com/office/drawing/2014/main" id="{D1A4CEC2-0CC0-46A9-B84F-C0857608BBAA}"/>
              </a:ext>
            </a:extLst>
          </p:cNvPr>
          <p:cNvSpPr>
            <a:spLocks noGrp="1"/>
          </p:cNvSpPr>
          <p:nvPr/>
        </p:nvSpPr>
        <p:spPr>
          <a:xfrm>
            <a:off x="6210300" y="5314950"/>
            <a:ext cx="2190750" cy="304800"/>
          </a:xfrm>
          <a:prstGeom prst="rect">
            <a:avLst/>
          </a:prstGeom>
          <a:noFill/>
          <a:ln w="0">
            <a:noFill/>
            <a:prstDash val="solid"/>
          </a:ln>
        </p:spPr>
        <p:txBody>
          <a:bodyPr lIns="0" tIns="0" rIns="0" bIns="0" anchor="t">
            <a:normAutofit/>
          </a:bodyPr>
          <a:lstStyle>
            <a:defPPr algn="l">
              <a:defRPr sz="1275" b="0">
                <a:solidFill>
                  <a:srgbClr val="F6EAF2"/>
                </a:solidFill>
                <a:latin typeface="Arial"/>
                <a:ea typeface="Arial"/>
                <a:cs typeface="Arial"/>
              </a:defRPr>
            </a:defPPr>
          </a:lstStyle>
          <a:p>
            <a:pPr algn="l">
              <a:lnSpc>
                <a:spcPct val="104000"/>
              </a:lnSpc>
              <a:buNone/>
              <a:defRPr sz="1275" b="0">
                <a:solidFill>
                  <a:srgbClr val="F6EAF2"/>
                </a:solidFill>
                <a:latin typeface="Arial"/>
                <a:ea typeface="Arial"/>
                <a:cs typeface="Arial"/>
              </a:defRPr>
            </a:pPr>
            <a:r>
              <a:rPr sz="1275" b="0">
                <a:solidFill>
                  <a:srgbClr val="F6EAF2"/>
                </a:solidFill>
                <a:latin typeface="Arial"/>
                <a:ea typeface="Arial"/>
                <a:cs typeface="Arial"/>
              </a:rPr>
              <a:t>key insights</a:t>
            </a:r>
          </a:p>
        </p:txBody>
      </p:sp>
      <p:sp>
        <p:nvSpPr>
          <p:cNvPr id="13" name="text">
            <a:extLst>
              <a:ext uri="{FF2B5EF4-FFF2-40B4-BE49-F238E27FC236}">
                <a16:creationId xmlns:a16="http://schemas.microsoft.com/office/drawing/2014/main" id="{21639B0C-5915-422E-88EC-47CB1C65E261}"/>
              </a:ext>
            </a:extLst>
          </p:cNvPr>
          <p:cNvSpPr>
            <a:spLocks noGrp="1"/>
          </p:cNvSpPr>
          <p:nvPr/>
        </p:nvSpPr>
        <p:spPr>
          <a:xfrm>
            <a:off x="8934450" y="4857750"/>
            <a:ext cx="2190750" cy="457200"/>
          </a:xfrm>
          <a:prstGeom prst="rect">
            <a:avLst/>
          </a:prstGeom>
          <a:noFill/>
          <a:ln w="0">
            <a:noFill/>
            <a:prstDash val="solid"/>
          </a:ln>
        </p:spPr>
        <p:txBody>
          <a:bodyPr lIns="0" tIns="0" rIns="0" bIns="0" anchor="t">
            <a:normAutofit/>
          </a:bodyPr>
          <a:lstStyle>
            <a:defPPr algn="l">
              <a:defRPr sz="2325" b="1">
                <a:solidFill>
                  <a:srgbClr val="FFFFFF"/>
                </a:solidFill>
                <a:latin typeface="Arial"/>
                <a:ea typeface="Arial"/>
                <a:cs typeface="Arial"/>
              </a:defRPr>
            </a:defPPr>
          </a:lstStyle>
          <a:p>
            <a:pPr algn="l">
              <a:lnSpc>
                <a:spcPct val="104000"/>
              </a:lnSpc>
              <a:buNone/>
              <a:defRPr sz="2325" b="1">
                <a:solidFill>
                  <a:srgbClr val="FFFFFF"/>
                </a:solidFill>
                <a:latin typeface="Arial"/>
                <a:ea typeface="Arial"/>
                <a:cs typeface="Arial"/>
              </a:defRPr>
            </a:pPr>
            <a:r>
              <a:rPr sz="2325" b="1">
                <a:solidFill>
                  <a:srgbClr val="FFFFFF"/>
                </a:solidFill>
                <a:latin typeface="Arial"/>
                <a:ea typeface="Arial"/>
                <a:cs typeface="Arial"/>
              </a:rPr>
              <a:t>16</a:t>
            </a:r>
          </a:p>
        </p:txBody>
      </p:sp>
      <p:sp>
        <p:nvSpPr>
          <p:cNvPr id="14" name="text">
            <a:extLst>
              <a:ext uri="{FF2B5EF4-FFF2-40B4-BE49-F238E27FC236}">
                <a16:creationId xmlns:a16="http://schemas.microsoft.com/office/drawing/2014/main" id="{CE030C2E-5A9B-498B-9D30-B721816F5B3D}"/>
              </a:ext>
            </a:extLst>
          </p:cNvPr>
          <p:cNvSpPr>
            <a:spLocks noGrp="1"/>
          </p:cNvSpPr>
          <p:nvPr/>
        </p:nvSpPr>
        <p:spPr>
          <a:xfrm>
            <a:off x="8934450" y="5314950"/>
            <a:ext cx="2190750" cy="304800"/>
          </a:xfrm>
          <a:prstGeom prst="rect">
            <a:avLst/>
          </a:prstGeom>
          <a:noFill/>
          <a:ln w="0">
            <a:noFill/>
            <a:prstDash val="solid"/>
          </a:ln>
        </p:spPr>
        <p:txBody>
          <a:bodyPr lIns="0" tIns="0" rIns="0" bIns="0" anchor="t">
            <a:normAutofit/>
          </a:bodyPr>
          <a:lstStyle>
            <a:defPPr algn="l">
              <a:defRPr sz="1275" b="0">
                <a:solidFill>
                  <a:srgbClr val="F6EAF2"/>
                </a:solidFill>
                <a:latin typeface="Arial"/>
                <a:ea typeface="Arial"/>
                <a:cs typeface="Arial"/>
              </a:defRPr>
            </a:defPPr>
          </a:lstStyle>
          <a:p>
            <a:pPr algn="l">
              <a:lnSpc>
                <a:spcPct val="104000"/>
              </a:lnSpc>
              <a:buNone/>
              <a:defRPr sz="1275" b="0">
                <a:solidFill>
                  <a:srgbClr val="F6EAF2"/>
                </a:solidFill>
                <a:latin typeface="Arial"/>
                <a:ea typeface="Arial"/>
                <a:cs typeface="Arial"/>
              </a:defRPr>
            </a:pPr>
            <a:r>
              <a:rPr sz="1275" b="0">
                <a:solidFill>
                  <a:srgbClr val="F6EAF2"/>
                </a:solidFill>
                <a:latin typeface="Arial"/>
                <a:ea typeface="Arial"/>
                <a:cs typeface="Arial"/>
              </a:rPr>
              <a:t>chart figures</a:t>
            </a:r>
          </a:p>
        </p:txBody>
      </p:sp>
      <p:sp>
        <p:nvSpPr>
          <p:cNvPr id="15" name="text">
            <a:extLst>
              <a:ext uri="{FF2B5EF4-FFF2-40B4-BE49-F238E27FC236}">
                <a16:creationId xmlns:a16="http://schemas.microsoft.com/office/drawing/2014/main" id="{59D0C274-C4D3-4918-B301-C7A6B1A7D8FF}"/>
              </a:ext>
            </a:extLst>
          </p:cNvPr>
          <p:cNvSpPr>
            <a:spLocks noGrp="1"/>
          </p:cNvSpPr>
          <p:nvPr/>
        </p:nvSpPr>
        <p:spPr>
          <a:xfrm>
            <a:off x="762000" y="5953125"/>
            <a:ext cx="8572500" cy="247650"/>
          </a:xfrm>
          <a:prstGeom prst="rect">
            <a:avLst/>
          </a:prstGeom>
          <a:noFill/>
          <a:ln w="0">
            <a:noFill/>
            <a:prstDash val="solid"/>
          </a:ln>
        </p:spPr>
        <p:txBody>
          <a:bodyPr lIns="0" tIns="0" rIns="0" bIns="0" anchor="t">
            <a:normAutofit/>
          </a:bodyPr>
          <a:lstStyle>
            <a:defPPr algn="l">
              <a:defRPr sz="1200" b="0">
                <a:solidFill>
                  <a:srgbClr val="F6EAF2"/>
                </a:solidFill>
                <a:latin typeface="Arial"/>
                <a:ea typeface="Arial"/>
                <a:cs typeface="Arial"/>
              </a:defRPr>
            </a:defPPr>
          </a:lstStyle>
          <a:p>
            <a:pPr algn="l">
              <a:lnSpc>
                <a:spcPct val="104000"/>
              </a:lnSpc>
              <a:buNone/>
              <a:defRPr sz="1200" b="0">
                <a:solidFill>
                  <a:srgbClr val="F6EAF2"/>
                </a:solidFill>
                <a:latin typeface="Arial"/>
                <a:ea typeface="Arial"/>
                <a:cs typeface="Arial"/>
              </a:defRPr>
            </a:pPr>
            <a:r>
              <a:rPr sz="1200" b="0">
                <a:solidFill>
                  <a:srgbClr val="F6EAF2"/>
                </a:solidFill>
                <a:latin typeface="Arial"/>
                <a:ea typeface="Arial"/>
                <a:cs typeface="Arial"/>
              </a:rPr>
              <a:t>The notebook’s final figure has four panels, for 19 chart panels in total.</a:t>
            </a:r>
          </a:p>
        </p:txBody>
      </p:sp>
      <p:pic>
        <p:nvPicPr>
          <p:cNvPr id="40" name="Instagram logo" descr="Instagram-style logo with heart, comment, send and save icons"/>
          <p:cNvPicPr>
            <a:picLocks noChangeAspect="1"/>
          </p:cNvPicPr>
          <p:nvPr/>
        </p:nvPicPr>
        <p:blipFill>
          <a:blip r:embed="rId4"/>
          <a:stretch>
            <a:fillRect/>
          </a:stretch>
        </p:blipFill>
        <p:spPr>
          <a:xfrm>
            <a:off x="8700000" y="900000"/>
            <a:ext cx="2600000" cy="3380000"/>
          </a:xfrm>
          <a:prstGeom prst="rect">
            <a:avLst/>
          </a:prstGeom>
        </p:spPr>
      </p:pic>
    </p:spTree>
    <p:extLst>
      <p:ext uri="{BB962C8B-B14F-4D97-AF65-F5344CB8AC3E}">
        <p14:creationId xmlns:p14="http://schemas.microsoft.com/office/powerpoint/2010/main" val="584824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505E558-A056-44EF-93AB-DDB8DE59D642}"/>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1000" y="123825"/>
            <a:ext cx="11430000" cy="653415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53617FC5-71FA-41A5-B232-2782E41D0AEC}"/>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PROJECT AIM</a:t>
            </a:r>
          </a:p>
        </p:txBody>
      </p:sp>
      <p:sp>
        <p:nvSpPr>
          <p:cNvPr id="3" name="text">
            <a:extLst>
              <a:ext uri="{FF2B5EF4-FFF2-40B4-BE49-F238E27FC236}">
                <a16:creationId xmlns:a16="http://schemas.microsoft.com/office/drawing/2014/main" id="{B6597E92-7D4A-4869-ADA9-0900D9AC2CCD}"/>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dirty="0">
                <a:solidFill>
                  <a:srgbClr val="23223E"/>
                </a:solidFill>
                <a:latin typeface="Arial"/>
                <a:ea typeface="Arial"/>
                <a:cs typeface="Arial"/>
              </a:rPr>
              <a:t>Why analyze Instagram posts?</a:t>
            </a:r>
          </a:p>
        </p:txBody>
      </p:sp>
      <p:sp>
        <p:nvSpPr>
          <p:cNvPr id="4" name="accent-line">
            <a:extLst>
              <a:ext uri="{FF2B5EF4-FFF2-40B4-BE49-F238E27FC236}">
                <a16:creationId xmlns:a16="http://schemas.microsoft.com/office/drawing/2014/main" id="{8E8F6DB2-4BD6-433D-BE15-087652F16374}"/>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AF1F9CC9-30EC-4205-9DEF-78F7D63A92B6}"/>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05E42809-C594-423B-82CF-8255CC7786DB}"/>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02</a:t>
            </a:r>
          </a:p>
        </p:txBody>
      </p:sp>
      <p:sp>
        <p:nvSpPr>
          <p:cNvPr id="7" name="text">
            <a:extLst>
              <a:ext uri="{FF2B5EF4-FFF2-40B4-BE49-F238E27FC236}">
                <a16:creationId xmlns:a16="http://schemas.microsoft.com/office/drawing/2014/main" id="{C0C9CA8E-5685-4E70-8459-8C05BF27D241}"/>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The question behind the project</a:t>
            </a:r>
          </a:p>
        </p:txBody>
      </p:sp>
      <p:sp>
        <p:nvSpPr>
          <p:cNvPr id="8" name="text">
            <a:extLst>
              <a:ext uri="{FF2B5EF4-FFF2-40B4-BE49-F238E27FC236}">
                <a16:creationId xmlns:a16="http://schemas.microsoft.com/office/drawing/2014/main" id="{F642760F-E1C8-4D4D-9851-845A4471B658}"/>
              </a:ext>
            </a:extLst>
          </p:cNvPr>
          <p:cNvSpPr>
            <a:spLocks noGrp="1"/>
          </p:cNvSpPr>
          <p:nvPr/>
        </p:nvSpPr>
        <p:spPr>
          <a:xfrm>
            <a:off x="781050" y="1943100"/>
            <a:ext cx="10477500" cy="7810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dirty="0">
                <a:solidFill>
                  <a:srgbClr val="34364F"/>
                </a:solidFill>
                <a:latin typeface="Arial"/>
                <a:ea typeface="Arial"/>
                <a:cs typeface="Arial"/>
              </a:rPr>
              <a:t>A creator may ask: Which format gets more interactions? Which topics have higher engagement? How do reach and impressions change over time?</a:t>
            </a:r>
          </a:p>
        </p:txBody>
      </p:sp>
      <p:sp>
        <p:nvSpPr>
          <p:cNvPr id="9" name="text">
            <a:extLst>
              <a:ext uri="{FF2B5EF4-FFF2-40B4-BE49-F238E27FC236}">
                <a16:creationId xmlns:a16="http://schemas.microsoft.com/office/drawing/2014/main" id="{F4BB493D-28AB-46E1-A3BA-40159D65CBD2}"/>
              </a:ext>
            </a:extLst>
          </p:cNvPr>
          <p:cNvSpPr>
            <a:spLocks noGrp="1"/>
          </p:cNvSpPr>
          <p:nvPr/>
        </p:nvSpPr>
        <p:spPr>
          <a:xfrm>
            <a:off x="781050" y="28670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this analysis can help us do</a:t>
            </a:r>
          </a:p>
        </p:txBody>
      </p:sp>
      <p:sp>
        <p:nvSpPr>
          <p:cNvPr id="10" name="text">
            <a:extLst>
              <a:ext uri="{FF2B5EF4-FFF2-40B4-BE49-F238E27FC236}">
                <a16:creationId xmlns:a16="http://schemas.microsoft.com/office/drawing/2014/main" id="{3FE0E049-4CCC-41AD-893C-E910BA367104}"/>
              </a:ext>
            </a:extLst>
          </p:cNvPr>
          <p:cNvSpPr>
            <a:spLocks noGrp="1"/>
          </p:cNvSpPr>
          <p:nvPr/>
        </p:nvSpPr>
        <p:spPr>
          <a:xfrm>
            <a:off x="781050" y="3228975"/>
            <a:ext cx="10477500" cy="6477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dirty="0">
                <a:solidFill>
                  <a:srgbClr val="34364F"/>
                </a:solidFill>
                <a:latin typeface="Arial"/>
                <a:ea typeface="Arial"/>
                <a:cs typeface="Arial"/>
              </a:rPr>
              <a:t>Use the post data to compare groups, spot patterns, and make better questions for future content tests.</a:t>
            </a:r>
          </a:p>
        </p:txBody>
      </p:sp>
      <p:sp>
        <p:nvSpPr>
          <p:cNvPr id="11" name="text">
            <a:extLst>
              <a:ext uri="{FF2B5EF4-FFF2-40B4-BE49-F238E27FC236}">
                <a16:creationId xmlns:a16="http://schemas.microsoft.com/office/drawing/2014/main" id="{F4255E6A-33FB-4F18-854F-D8FF15564D0A}"/>
              </a:ext>
            </a:extLst>
          </p:cNvPr>
          <p:cNvSpPr>
            <a:spLocks noGrp="1"/>
          </p:cNvSpPr>
          <p:nvPr/>
        </p:nvSpPr>
        <p:spPr>
          <a:xfrm>
            <a:off x="781050" y="40195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A useful limit to remember</a:t>
            </a:r>
          </a:p>
        </p:txBody>
      </p:sp>
      <p:sp>
        <p:nvSpPr>
          <p:cNvPr id="12" name="text">
            <a:extLst>
              <a:ext uri="{FF2B5EF4-FFF2-40B4-BE49-F238E27FC236}">
                <a16:creationId xmlns:a16="http://schemas.microsoft.com/office/drawing/2014/main" id="{E0DF1066-58EB-410C-93AD-70F890E08285}"/>
              </a:ext>
            </a:extLst>
          </p:cNvPr>
          <p:cNvSpPr>
            <a:spLocks noGrp="1"/>
          </p:cNvSpPr>
          <p:nvPr/>
        </p:nvSpPr>
        <p:spPr>
          <a:xfrm>
            <a:off x="781050" y="4381500"/>
            <a:ext cx="10477500" cy="7048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dirty="0">
                <a:solidFill>
                  <a:srgbClr val="34364F"/>
                </a:solidFill>
                <a:latin typeface="Arial"/>
                <a:ea typeface="Arial"/>
                <a:cs typeface="Arial"/>
              </a:rPr>
              <a:t>The dataset includes reach and impressions. It does not have a separate video-views column, so we should not call reach or impressions “views.”</a:t>
            </a:r>
          </a:p>
        </p:txBody>
      </p:sp>
    </p:spTree>
    <p:extLst>
      <p:ext uri="{BB962C8B-B14F-4D97-AF65-F5344CB8AC3E}">
        <p14:creationId xmlns:p14="http://schemas.microsoft.com/office/powerpoint/2010/main" val="1971696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F3C5FB9-9CDE-4BF6-BD53-F1A16B208DB5}"/>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F08CE4E4-2291-4EE0-B048-093EC3053250}"/>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DATASET</a:t>
            </a:r>
          </a:p>
        </p:txBody>
      </p:sp>
      <p:sp>
        <p:nvSpPr>
          <p:cNvPr id="3" name="text">
            <a:extLst>
              <a:ext uri="{FF2B5EF4-FFF2-40B4-BE49-F238E27FC236}">
                <a16:creationId xmlns:a16="http://schemas.microsoft.com/office/drawing/2014/main" id="{A27F1BE4-353C-407C-8FBB-BD2A2E2B2F5C}"/>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What is in the dataset?</a:t>
            </a:r>
          </a:p>
        </p:txBody>
      </p:sp>
      <p:sp>
        <p:nvSpPr>
          <p:cNvPr id="4" name="accent-line">
            <a:extLst>
              <a:ext uri="{FF2B5EF4-FFF2-40B4-BE49-F238E27FC236}">
                <a16:creationId xmlns:a16="http://schemas.microsoft.com/office/drawing/2014/main" id="{A3D291F2-6843-440E-BAA3-B9F3F74FDC90}"/>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03F80738-FFD9-4998-9716-C35A1AEC2F9F}"/>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6B02898D-11AE-4D4A-8E94-D03FD6FAE502}"/>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03</a:t>
            </a:r>
          </a:p>
        </p:txBody>
      </p:sp>
      <p:sp>
        <p:nvSpPr>
          <p:cNvPr id="7" name="text">
            <a:extLst>
              <a:ext uri="{FF2B5EF4-FFF2-40B4-BE49-F238E27FC236}">
                <a16:creationId xmlns:a16="http://schemas.microsoft.com/office/drawing/2014/main" id="{7947ED63-E3B2-484E-B896-D51C2B165A9F}"/>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One row represents one Instagram post</a:t>
            </a:r>
          </a:p>
        </p:txBody>
      </p:sp>
      <p:sp>
        <p:nvSpPr>
          <p:cNvPr id="8" name="text">
            <a:extLst>
              <a:ext uri="{FF2B5EF4-FFF2-40B4-BE49-F238E27FC236}">
                <a16:creationId xmlns:a16="http://schemas.microsoft.com/office/drawing/2014/main" id="{93ED7C88-7C00-4084-8480-E6634327BD6D}"/>
              </a:ext>
            </a:extLst>
          </p:cNvPr>
          <p:cNvSpPr>
            <a:spLocks noGrp="1"/>
          </p:cNvSpPr>
          <p:nvPr/>
        </p:nvSpPr>
        <p:spPr>
          <a:xfrm>
            <a:off x="781050" y="1943100"/>
            <a:ext cx="10477500" cy="6667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 Kaggle CSV contains 29,999 posts and 23 original columns. The dates in the data run from November 2024 through November 2025.</a:t>
            </a:r>
          </a:p>
        </p:txBody>
      </p:sp>
      <p:sp>
        <p:nvSpPr>
          <p:cNvPr id="9" name="text">
            <a:extLst>
              <a:ext uri="{FF2B5EF4-FFF2-40B4-BE49-F238E27FC236}">
                <a16:creationId xmlns:a16="http://schemas.microsoft.com/office/drawing/2014/main" id="{A94B9F49-33A1-44AD-9425-6767ED949A07}"/>
              </a:ext>
            </a:extLst>
          </p:cNvPr>
          <p:cNvSpPr>
            <a:spLocks noGrp="1"/>
          </p:cNvSpPr>
          <p:nvPr/>
        </p:nvSpPr>
        <p:spPr>
          <a:xfrm>
            <a:off x="781050" y="27527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Post and account details</a:t>
            </a:r>
          </a:p>
        </p:txBody>
      </p:sp>
      <p:sp>
        <p:nvSpPr>
          <p:cNvPr id="10" name="text">
            <a:extLst>
              <a:ext uri="{FF2B5EF4-FFF2-40B4-BE49-F238E27FC236}">
                <a16:creationId xmlns:a16="http://schemas.microsoft.com/office/drawing/2014/main" id="{0FE74895-9573-4250-8018-75FCB254B5B5}"/>
              </a:ext>
            </a:extLst>
          </p:cNvPr>
          <p:cNvSpPr>
            <a:spLocks noGrp="1"/>
          </p:cNvSpPr>
          <p:nvPr/>
        </p:nvSpPr>
        <p:spPr>
          <a:xfrm>
            <a:off x="781050" y="3114675"/>
            <a:ext cx="10477500" cy="6286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Account type, follower count, media type, content category, traffic source, call to action, and posting date and time.</a:t>
            </a:r>
          </a:p>
        </p:txBody>
      </p:sp>
      <p:sp>
        <p:nvSpPr>
          <p:cNvPr id="11" name="text">
            <a:extLst>
              <a:ext uri="{FF2B5EF4-FFF2-40B4-BE49-F238E27FC236}">
                <a16:creationId xmlns:a16="http://schemas.microsoft.com/office/drawing/2014/main" id="{D1306644-F994-4838-85E2-FF4E75776FF5}"/>
              </a:ext>
            </a:extLst>
          </p:cNvPr>
          <p:cNvSpPr>
            <a:spLocks noGrp="1"/>
          </p:cNvSpPr>
          <p:nvPr/>
        </p:nvSpPr>
        <p:spPr>
          <a:xfrm>
            <a:off x="781050" y="38862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Performance details</a:t>
            </a:r>
          </a:p>
        </p:txBody>
      </p:sp>
      <p:sp>
        <p:nvSpPr>
          <p:cNvPr id="12" name="text">
            <a:extLst>
              <a:ext uri="{FF2B5EF4-FFF2-40B4-BE49-F238E27FC236}">
                <a16:creationId xmlns:a16="http://schemas.microsoft.com/office/drawing/2014/main" id="{AB7B9CB7-90ED-4519-B0D3-02D4B9661BF9}"/>
              </a:ext>
            </a:extLst>
          </p:cNvPr>
          <p:cNvSpPr>
            <a:spLocks noGrp="1"/>
          </p:cNvSpPr>
          <p:nvPr/>
        </p:nvSpPr>
        <p:spPr>
          <a:xfrm>
            <a:off x="781050" y="4248150"/>
            <a:ext cx="10477500" cy="6667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Likes, comments, shares, saves, reach, impressions, engagement rate, followers gained, caption length, and hashtag count.</a:t>
            </a:r>
          </a:p>
        </p:txBody>
      </p:sp>
      <p:sp>
        <p:nvSpPr>
          <p:cNvPr id="13" name="text">
            <a:extLst>
              <a:ext uri="{FF2B5EF4-FFF2-40B4-BE49-F238E27FC236}">
                <a16:creationId xmlns:a16="http://schemas.microsoft.com/office/drawing/2014/main" id="{38940C01-0A2F-47EB-9F4E-E276D444FA91}"/>
              </a:ext>
            </a:extLst>
          </p:cNvPr>
          <p:cNvSpPr>
            <a:spLocks noGrp="1"/>
          </p:cNvSpPr>
          <p:nvPr/>
        </p:nvSpPr>
        <p:spPr>
          <a:xfrm>
            <a:off x="781050" y="505777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After preparation</a:t>
            </a:r>
          </a:p>
        </p:txBody>
      </p:sp>
      <p:sp>
        <p:nvSpPr>
          <p:cNvPr id="14" name="text">
            <a:extLst>
              <a:ext uri="{FF2B5EF4-FFF2-40B4-BE49-F238E27FC236}">
                <a16:creationId xmlns:a16="http://schemas.microsoft.com/office/drawing/2014/main" id="{24A84B81-C44E-4ABB-BFEC-9A961BD07ABE}"/>
              </a:ext>
            </a:extLst>
          </p:cNvPr>
          <p:cNvSpPr>
            <a:spLocks noGrp="1"/>
          </p:cNvSpPr>
          <p:nvPr/>
        </p:nvSpPr>
        <p:spPr>
          <a:xfrm>
            <a:off x="781050" y="5419725"/>
            <a:ext cx="10477500" cy="6096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added total interactions, posting year, and posting month. The working dataset has 26 columns.</a:t>
            </a:r>
          </a:p>
        </p:txBody>
      </p:sp>
    </p:spTree>
    <p:extLst>
      <p:ext uri="{BB962C8B-B14F-4D97-AF65-F5344CB8AC3E}">
        <p14:creationId xmlns:p14="http://schemas.microsoft.com/office/powerpoint/2010/main" val="116475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A69EB9C-830E-444D-8338-7C0B34B991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dirty="0"/>
          </a:p>
        </p:txBody>
      </p:sp>
      <p:sp>
        <p:nvSpPr>
          <p:cNvPr id="2" name="text">
            <a:extLst>
              <a:ext uri="{FF2B5EF4-FFF2-40B4-BE49-F238E27FC236}">
                <a16:creationId xmlns:a16="http://schemas.microsoft.com/office/drawing/2014/main" id="{640BA3E2-5B9C-44E4-ABC4-E8641C8F4CEC}"/>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PROJECT AIM</a:t>
            </a:r>
          </a:p>
        </p:txBody>
      </p:sp>
      <p:sp>
        <p:nvSpPr>
          <p:cNvPr id="3" name="text">
            <a:extLst>
              <a:ext uri="{FF2B5EF4-FFF2-40B4-BE49-F238E27FC236}">
                <a16:creationId xmlns:a16="http://schemas.microsoft.com/office/drawing/2014/main" id="{E34A13EB-46DA-4E83-B984-BF7BA6C1A68A}"/>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dirty="0">
                <a:solidFill>
                  <a:srgbClr val="23223E"/>
                </a:solidFill>
                <a:latin typeface="Arial"/>
                <a:ea typeface="Arial"/>
                <a:cs typeface="Arial"/>
              </a:rPr>
              <a:t>What each project step is for</a:t>
            </a:r>
            <a:endParaRPr lang="en-US" sz="2550" b="1" dirty="0">
              <a:solidFill>
                <a:srgbClr val="23223E"/>
              </a:solidFill>
              <a:latin typeface="Arial"/>
              <a:ea typeface="Arial"/>
              <a:cs typeface="Arial"/>
            </a:endParaRPr>
          </a:p>
          <a:p>
            <a:pPr algn="l">
              <a:lnSpc>
                <a:spcPct val="100000"/>
              </a:lnSpc>
              <a:buNone/>
              <a:defRPr sz="2550" b="1">
                <a:solidFill>
                  <a:srgbClr val="23223E"/>
                </a:solidFill>
                <a:latin typeface="Arial"/>
                <a:ea typeface="Arial"/>
                <a:cs typeface="Arial"/>
              </a:defRPr>
            </a:pPr>
            <a:endParaRPr sz="2550" b="1" dirty="0">
              <a:solidFill>
                <a:srgbClr val="23223E"/>
              </a:solidFill>
              <a:latin typeface="Arial"/>
              <a:ea typeface="Arial"/>
              <a:cs typeface="Arial"/>
            </a:endParaRPr>
          </a:p>
        </p:txBody>
      </p:sp>
      <p:sp>
        <p:nvSpPr>
          <p:cNvPr id="4" name="accent-line">
            <a:extLst>
              <a:ext uri="{FF2B5EF4-FFF2-40B4-BE49-F238E27FC236}">
                <a16:creationId xmlns:a16="http://schemas.microsoft.com/office/drawing/2014/main" id="{22922A24-5A25-4B2C-BAEA-4F202E710B02}"/>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34EE2DEC-7640-45D3-8E39-DE553FA3205F}"/>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2E93925E-D8BD-4DED-AAD1-503E59EE2E81}"/>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04</a:t>
            </a:r>
          </a:p>
        </p:txBody>
      </p:sp>
      <p:sp>
        <p:nvSpPr>
          <p:cNvPr id="7" name="text">
            <a:extLst>
              <a:ext uri="{FF2B5EF4-FFF2-40B4-BE49-F238E27FC236}">
                <a16:creationId xmlns:a16="http://schemas.microsoft.com/office/drawing/2014/main" id="{9974E657-2BE1-46BB-8519-78A9309420C9}"/>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lang="en-US" sz="1725" b="1" dirty="0">
                <a:solidFill>
                  <a:srgbClr val="C83E79"/>
                </a:solidFill>
                <a:latin typeface="Arial"/>
                <a:ea typeface="Arial"/>
                <a:cs typeface="Arial"/>
              </a:rPr>
              <a:t>Data Loading and cleaning </a:t>
            </a:r>
            <a:endParaRPr sz="1725" b="1" dirty="0">
              <a:solidFill>
                <a:srgbClr val="C83E79"/>
              </a:solidFill>
              <a:latin typeface="Arial"/>
              <a:ea typeface="Arial"/>
              <a:cs typeface="Arial"/>
            </a:endParaRPr>
          </a:p>
        </p:txBody>
      </p:sp>
      <p:sp>
        <p:nvSpPr>
          <p:cNvPr id="8" name="text">
            <a:extLst>
              <a:ext uri="{FF2B5EF4-FFF2-40B4-BE49-F238E27FC236}">
                <a16:creationId xmlns:a16="http://schemas.microsoft.com/office/drawing/2014/main" id="{FB50FB8D-16D2-43C1-B280-8170FD17B288}"/>
              </a:ext>
            </a:extLst>
          </p:cNvPr>
          <p:cNvSpPr>
            <a:spLocks noGrp="1"/>
          </p:cNvSpPr>
          <p:nvPr/>
        </p:nvSpPr>
        <p:spPr>
          <a:xfrm>
            <a:off x="781050" y="1943100"/>
            <a:ext cx="10477500" cy="476250"/>
          </a:xfrm>
          <a:prstGeom prst="rect">
            <a:avLst/>
          </a:prstGeom>
          <a:noFill/>
          <a:ln w="0">
            <a:noFill/>
            <a:prstDash val="solid"/>
          </a:ln>
        </p:spPr>
        <p:txBody>
          <a:bodyPr lIns="0" tIns="0" rIns="0" bIns="0" anchor="t">
            <a:normAutofit fontScale="92500"/>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lang="en-US" sz="1650" dirty="0">
                <a:solidFill>
                  <a:srgbClr val="34364F"/>
                </a:solidFill>
                <a:latin typeface="Arial"/>
                <a:ea typeface="Arial"/>
                <a:cs typeface="Arial"/>
              </a:rPr>
              <a:t>Import the Instagram dataset in to Python using Jupiter Notebook ,</a:t>
            </a:r>
            <a:r>
              <a:rPr sz="1650" b="0" dirty="0">
                <a:solidFill>
                  <a:srgbClr val="34364F"/>
                </a:solidFill>
                <a:latin typeface="Arial"/>
                <a:ea typeface="Arial"/>
                <a:cs typeface="Arial"/>
              </a:rPr>
              <a:t>Check that the data is complete, consistent, and in a useful format.</a:t>
            </a:r>
          </a:p>
        </p:txBody>
      </p:sp>
      <p:sp>
        <p:nvSpPr>
          <p:cNvPr id="9" name="text">
            <a:extLst>
              <a:ext uri="{FF2B5EF4-FFF2-40B4-BE49-F238E27FC236}">
                <a16:creationId xmlns:a16="http://schemas.microsoft.com/office/drawing/2014/main" id="{B5FBB6C5-9DA0-4AB7-871A-B591C314C680}"/>
              </a:ext>
            </a:extLst>
          </p:cNvPr>
          <p:cNvSpPr>
            <a:spLocks noGrp="1"/>
          </p:cNvSpPr>
          <p:nvPr/>
        </p:nvSpPr>
        <p:spPr>
          <a:xfrm>
            <a:off x="781050" y="25622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New columns</a:t>
            </a:r>
          </a:p>
        </p:txBody>
      </p:sp>
      <p:sp>
        <p:nvSpPr>
          <p:cNvPr id="10" name="text">
            <a:extLst>
              <a:ext uri="{FF2B5EF4-FFF2-40B4-BE49-F238E27FC236}">
                <a16:creationId xmlns:a16="http://schemas.microsoft.com/office/drawing/2014/main" id="{05E421DC-C198-4F3E-945A-5A78C8257C3B}"/>
              </a:ext>
            </a:extLst>
          </p:cNvPr>
          <p:cNvSpPr>
            <a:spLocks noGrp="1"/>
          </p:cNvSpPr>
          <p:nvPr/>
        </p:nvSpPr>
        <p:spPr>
          <a:xfrm>
            <a:off x="781050" y="2924175"/>
            <a:ext cx="10477500" cy="4762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Combine interaction counts and pull the year and month from the post date.</a:t>
            </a:r>
          </a:p>
        </p:txBody>
      </p:sp>
      <p:sp>
        <p:nvSpPr>
          <p:cNvPr id="11" name="text">
            <a:extLst>
              <a:ext uri="{FF2B5EF4-FFF2-40B4-BE49-F238E27FC236}">
                <a16:creationId xmlns:a16="http://schemas.microsoft.com/office/drawing/2014/main" id="{80295756-2195-4008-BC90-03D93B65B7ED}"/>
              </a:ext>
            </a:extLst>
          </p:cNvPr>
          <p:cNvSpPr>
            <a:spLocks noGrp="1"/>
          </p:cNvSpPr>
          <p:nvPr/>
        </p:nvSpPr>
        <p:spPr>
          <a:xfrm>
            <a:off x="781050" y="35433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dirty="0">
                <a:solidFill>
                  <a:srgbClr val="C83E79"/>
                </a:solidFill>
                <a:latin typeface="Arial"/>
                <a:ea typeface="Arial"/>
                <a:cs typeface="Arial"/>
              </a:rPr>
              <a:t>EDA and charts</a:t>
            </a:r>
          </a:p>
        </p:txBody>
      </p:sp>
      <p:sp>
        <p:nvSpPr>
          <p:cNvPr id="12" name="text">
            <a:extLst>
              <a:ext uri="{FF2B5EF4-FFF2-40B4-BE49-F238E27FC236}">
                <a16:creationId xmlns:a16="http://schemas.microsoft.com/office/drawing/2014/main" id="{C3EAF0E2-02A4-4948-B1AE-E19D06ED6555}"/>
              </a:ext>
            </a:extLst>
          </p:cNvPr>
          <p:cNvSpPr>
            <a:spLocks noGrp="1"/>
          </p:cNvSpPr>
          <p:nvPr/>
        </p:nvSpPr>
        <p:spPr>
          <a:xfrm>
            <a:off x="781050" y="3905250"/>
            <a:ext cx="10477500" cy="4762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Explore the data and make patterns easier to see.</a:t>
            </a:r>
          </a:p>
        </p:txBody>
      </p:sp>
      <p:sp>
        <p:nvSpPr>
          <p:cNvPr id="13" name="text">
            <a:extLst>
              <a:ext uri="{FF2B5EF4-FFF2-40B4-BE49-F238E27FC236}">
                <a16:creationId xmlns:a16="http://schemas.microsoft.com/office/drawing/2014/main" id="{B45201AD-7114-4CA1-8CB6-5883AD571D46}"/>
              </a:ext>
            </a:extLst>
          </p:cNvPr>
          <p:cNvSpPr>
            <a:spLocks noGrp="1"/>
          </p:cNvSpPr>
          <p:nvPr/>
        </p:nvSpPr>
        <p:spPr>
          <a:xfrm>
            <a:off x="781050" y="452437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Insights and suggestions</a:t>
            </a:r>
          </a:p>
        </p:txBody>
      </p:sp>
      <p:sp>
        <p:nvSpPr>
          <p:cNvPr id="14" name="text">
            <a:extLst>
              <a:ext uri="{FF2B5EF4-FFF2-40B4-BE49-F238E27FC236}">
                <a16:creationId xmlns:a16="http://schemas.microsoft.com/office/drawing/2014/main" id="{9A31491F-4BBD-4AF8-AB81-B1C30F54FA0E}"/>
              </a:ext>
            </a:extLst>
          </p:cNvPr>
          <p:cNvSpPr>
            <a:spLocks noGrp="1"/>
          </p:cNvSpPr>
          <p:nvPr/>
        </p:nvSpPr>
        <p:spPr>
          <a:xfrm>
            <a:off x="781050" y="4886325"/>
            <a:ext cx="10477500" cy="5524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dirty="0">
                <a:solidFill>
                  <a:srgbClr val="34364F"/>
                </a:solidFill>
                <a:latin typeface="Arial"/>
                <a:ea typeface="Arial"/>
                <a:cs typeface="Arial"/>
              </a:rPr>
              <a:t>Explain what the results may mean and suggest what a creator could test next.</a:t>
            </a:r>
          </a:p>
        </p:txBody>
      </p:sp>
    </p:spTree>
    <p:extLst>
      <p:ext uri="{BB962C8B-B14F-4D97-AF65-F5344CB8AC3E}">
        <p14:creationId xmlns:p14="http://schemas.microsoft.com/office/powerpoint/2010/main" val="1497290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8E94E9-8DBF-4947-AC55-DB902AEC55BC}"/>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81B1F166-63BD-43AE-AA30-EDC355F8F737}"/>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WORKFLOW</a:t>
            </a:r>
          </a:p>
        </p:txBody>
      </p:sp>
      <p:sp>
        <p:nvSpPr>
          <p:cNvPr id="3" name="text">
            <a:extLst>
              <a:ext uri="{FF2B5EF4-FFF2-40B4-BE49-F238E27FC236}">
                <a16:creationId xmlns:a16="http://schemas.microsoft.com/office/drawing/2014/main" id="{5978568B-8BC2-470A-A6D4-9C6B1176E3E7}"/>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Project workflow</a:t>
            </a:r>
          </a:p>
        </p:txBody>
      </p:sp>
      <p:sp>
        <p:nvSpPr>
          <p:cNvPr id="4" name="accent-line">
            <a:extLst>
              <a:ext uri="{FF2B5EF4-FFF2-40B4-BE49-F238E27FC236}">
                <a16:creationId xmlns:a16="http://schemas.microsoft.com/office/drawing/2014/main" id="{116F079C-EB81-4E6B-9143-BD3763831362}"/>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CC9B5116-CB5F-4606-92E0-0E24094A42B8}"/>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EEFB2FD6-C436-4356-BA3A-46323655FFF1}"/>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05</a:t>
            </a:r>
          </a:p>
        </p:txBody>
      </p:sp>
      <p:sp>
        <p:nvSpPr>
          <p:cNvPr id="7" name="text">
            <a:extLst>
              <a:ext uri="{FF2B5EF4-FFF2-40B4-BE49-F238E27FC236}">
                <a16:creationId xmlns:a16="http://schemas.microsoft.com/office/drawing/2014/main" id="{52E9898A-D57B-4B5D-A642-8E01522C5F00}"/>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1  Load and inspect</a:t>
            </a:r>
          </a:p>
        </p:txBody>
      </p:sp>
      <p:sp>
        <p:nvSpPr>
          <p:cNvPr id="8" name="text">
            <a:extLst>
              <a:ext uri="{FF2B5EF4-FFF2-40B4-BE49-F238E27FC236}">
                <a16:creationId xmlns:a16="http://schemas.microsoft.com/office/drawing/2014/main" id="{C8CE24C6-2ED1-466C-9CC0-A57E9BBDCCF7}"/>
              </a:ext>
            </a:extLst>
          </p:cNvPr>
          <p:cNvSpPr>
            <a:spLocks noGrp="1"/>
          </p:cNvSpPr>
          <p:nvPr/>
        </p:nvSpPr>
        <p:spPr>
          <a:xfrm>
            <a:off x="781050" y="1943100"/>
            <a:ext cx="10477500" cy="4000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Bring the CSV into Python and check its size and contents.</a:t>
            </a:r>
          </a:p>
        </p:txBody>
      </p:sp>
      <p:sp>
        <p:nvSpPr>
          <p:cNvPr id="9" name="text">
            <a:extLst>
              <a:ext uri="{FF2B5EF4-FFF2-40B4-BE49-F238E27FC236}">
                <a16:creationId xmlns:a16="http://schemas.microsoft.com/office/drawing/2014/main" id="{6B53EE34-3620-45EB-985D-E00DEAAAAE4E}"/>
              </a:ext>
            </a:extLst>
          </p:cNvPr>
          <p:cNvSpPr>
            <a:spLocks noGrp="1"/>
          </p:cNvSpPr>
          <p:nvPr/>
        </p:nvSpPr>
        <p:spPr>
          <a:xfrm>
            <a:off x="781050" y="24193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2  Clean and prepare</a:t>
            </a:r>
          </a:p>
        </p:txBody>
      </p:sp>
      <p:sp>
        <p:nvSpPr>
          <p:cNvPr id="10" name="text">
            <a:extLst>
              <a:ext uri="{FF2B5EF4-FFF2-40B4-BE49-F238E27FC236}">
                <a16:creationId xmlns:a16="http://schemas.microsoft.com/office/drawing/2014/main" id="{57727916-A216-4E21-926B-F45CEF063A8F}"/>
              </a:ext>
            </a:extLst>
          </p:cNvPr>
          <p:cNvSpPr>
            <a:spLocks noGrp="1"/>
          </p:cNvSpPr>
          <p:nvPr/>
        </p:nvSpPr>
        <p:spPr>
          <a:xfrm>
            <a:off x="781050" y="2781300"/>
            <a:ext cx="10477500" cy="4000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Check data quality, convert dates, and create useful columns.</a:t>
            </a:r>
          </a:p>
        </p:txBody>
      </p:sp>
      <p:sp>
        <p:nvSpPr>
          <p:cNvPr id="11" name="text">
            <a:extLst>
              <a:ext uri="{FF2B5EF4-FFF2-40B4-BE49-F238E27FC236}">
                <a16:creationId xmlns:a16="http://schemas.microsoft.com/office/drawing/2014/main" id="{AB6AF817-B1F8-4809-A7A9-D6AA1B12FA59}"/>
              </a:ext>
            </a:extLst>
          </p:cNvPr>
          <p:cNvSpPr>
            <a:spLocks noGrp="1"/>
          </p:cNvSpPr>
          <p:nvPr/>
        </p:nvSpPr>
        <p:spPr>
          <a:xfrm>
            <a:off x="781050" y="32575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3  Explore the data</a:t>
            </a:r>
          </a:p>
        </p:txBody>
      </p:sp>
      <p:sp>
        <p:nvSpPr>
          <p:cNvPr id="12" name="text">
            <a:extLst>
              <a:ext uri="{FF2B5EF4-FFF2-40B4-BE49-F238E27FC236}">
                <a16:creationId xmlns:a16="http://schemas.microsoft.com/office/drawing/2014/main" id="{E8F71475-1CD0-42D2-A324-BDB92AE6462A}"/>
              </a:ext>
            </a:extLst>
          </p:cNvPr>
          <p:cNvSpPr>
            <a:spLocks noGrp="1"/>
          </p:cNvSpPr>
          <p:nvPr/>
        </p:nvSpPr>
        <p:spPr>
          <a:xfrm>
            <a:off x="781050" y="3619500"/>
            <a:ext cx="10477500" cy="4000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Use summaries and group comparisons to look for patterns.</a:t>
            </a:r>
          </a:p>
        </p:txBody>
      </p:sp>
      <p:sp>
        <p:nvSpPr>
          <p:cNvPr id="13" name="text">
            <a:extLst>
              <a:ext uri="{FF2B5EF4-FFF2-40B4-BE49-F238E27FC236}">
                <a16:creationId xmlns:a16="http://schemas.microsoft.com/office/drawing/2014/main" id="{ADCC999E-9983-4D81-8CFB-45B930723125}"/>
              </a:ext>
            </a:extLst>
          </p:cNvPr>
          <p:cNvSpPr>
            <a:spLocks noGrp="1"/>
          </p:cNvSpPr>
          <p:nvPr/>
        </p:nvSpPr>
        <p:spPr>
          <a:xfrm>
            <a:off x="781050" y="40957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4  Create visualizations</a:t>
            </a:r>
          </a:p>
        </p:txBody>
      </p:sp>
      <p:sp>
        <p:nvSpPr>
          <p:cNvPr id="14" name="text">
            <a:extLst>
              <a:ext uri="{FF2B5EF4-FFF2-40B4-BE49-F238E27FC236}">
                <a16:creationId xmlns:a16="http://schemas.microsoft.com/office/drawing/2014/main" id="{EDBFA359-5462-4AB0-932A-A7F4C3DC3751}"/>
              </a:ext>
            </a:extLst>
          </p:cNvPr>
          <p:cNvSpPr>
            <a:spLocks noGrp="1"/>
          </p:cNvSpPr>
          <p:nvPr/>
        </p:nvSpPr>
        <p:spPr>
          <a:xfrm>
            <a:off x="781050" y="4457700"/>
            <a:ext cx="10477500" cy="4000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Show distributions, comparisons, relationships, and time patterns.</a:t>
            </a:r>
          </a:p>
        </p:txBody>
      </p:sp>
      <p:sp>
        <p:nvSpPr>
          <p:cNvPr id="15" name="text">
            <a:extLst>
              <a:ext uri="{FF2B5EF4-FFF2-40B4-BE49-F238E27FC236}">
                <a16:creationId xmlns:a16="http://schemas.microsoft.com/office/drawing/2014/main" id="{F82764C9-9259-4EFD-82F1-6D4D9330D856}"/>
              </a:ext>
            </a:extLst>
          </p:cNvPr>
          <p:cNvSpPr>
            <a:spLocks noGrp="1"/>
          </p:cNvSpPr>
          <p:nvPr/>
        </p:nvSpPr>
        <p:spPr>
          <a:xfrm>
            <a:off x="781050" y="49339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5  Share insights and next steps</a:t>
            </a:r>
          </a:p>
        </p:txBody>
      </p:sp>
      <p:sp>
        <p:nvSpPr>
          <p:cNvPr id="16" name="text">
            <a:extLst>
              <a:ext uri="{FF2B5EF4-FFF2-40B4-BE49-F238E27FC236}">
                <a16:creationId xmlns:a16="http://schemas.microsoft.com/office/drawing/2014/main" id="{0E199F06-4D3E-4CAD-9069-F3D343191B23}"/>
              </a:ext>
            </a:extLst>
          </p:cNvPr>
          <p:cNvSpPr>
            <a:spLocks noGrp="1"/>
          </p:cNvSpPr>
          <p:nvPr/>
        </p:nvSpPr>
        <p:spPr>
          <a:xfrm>
            <a:off x="781050" y="5295900"/>
            <a:ext cx="10477500" cy="4000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Explain the findings, limits, and suggestions.</a:t>
            </a:r>
          </a:p>
        </p:txBody>
      </p:sp>
    </p:spTree>
    <p:extLst>
      <p:ext uri="{BB962C8B-B14F-4D97-AF65-F5344CB8AC3E}">
        <p14:creationId xmlns:p14="http://schemas.microsoft.com/office/powerpoint/2010/main" val="294360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8C1F52F-358D-44CB-9DA2-7CA9FC7EEEF0}"/>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0DA7A42B-8E49-4922-A923-17EA4A76D6C2}"/>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LOAD AND INSPECT</a:t>
            </a:r>
          </a:p>
        </p:txBody>
      </p:sp>
      <p:sp>
        <p:nvSpPr>
          <p:cNvPr id="3" name="text">
            <a:extLst>
              <a:ext uri="{FF2B5EF4-FFF2-40B4-BE49-F238E27FC236}">
                <a16:creationId xmlns:a16="http://schemas.microsoft.com/office/drawing/2014/main" id="{66186E6D-0D82-454D-9CCC-FDE2504FEBEA}"/>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Step 1  Load the CSV into Python</a:t>
            </a:r>
          </a:p>
        </p:txBody>
      </p:sp>
      <p:sp>
        <p:nvSpPr>
          <p:cNvPr id="4" name="accent-line">
            <a:extLst>
              <a:ext uri="{FF2B5EF4-FFF2-40B4-BE49-F238E27FC236}">
                <a16:creationId xmlns:a16="http://schemas.microsoft.com/office/drawing/2014/main" id="{9827B05E-1A6A-4C46-8369-36B0DF98F701}"/>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120DA21A-AC2F-4203-8877-5783D0D6F4D2}"/>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8193AAB6-801F-4D69-8A1E-D372183C37EB}"/>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06</a:t>
            </a:r>
          </a:p>
        </p:txBody>
      </p:sp>
      <p:sp>
        <p:nvSpPr>
          <p:cNvPr id="7" name="text">
            <a:extLst>
              <a:ext uri="{FF2B5EF4-FFF2-40B4-BE49-F238E27FC236}">
                <a16:creationId xmlns:a16="http://schemas.microsoft.com/office/drawing/2014/main" id="{8AB263EC-B973-4045-BADD-A3C6D29AF8D7}"/>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does loading mean?</a:t>
            </a:r>
          </a:p>
        </p:txBody>
      </p:sp>
      <p:sp>
        <p:nvSpPr>
          <p:cNvPr id="8" name="text">
            <a:extLst>
              <a:ext uri="{FF2B5EF4-FFF2-40B4-BE49-F238E27FC236}">
                <a16:creationId xmlns:a16="http://schemas.microsoft.com/office/drawing/2014/main" id="{FF3E3608-C55F-4A95-BD44-E7624C326AF1}"/>
              </a:ext>
            </a:extLst>
          </p:cNvPr>
          <p:cNvSpPr>
            <a:spLocks noGrp="1"/>
          </p:cNvSpPr>
          <p:nvPr/>
        </p:nvSpPr>
        <p:spPr>
          <a:xfrm>
            <a:off x="781050" y="1943100"/>
            <a:ext cx="10477500" cy="52387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Loading means opening the CSV file in Python so I can work with its rows and columns.</a:t>
            </a:r>
          </a:p>
        </p:txBody>
      </p:sp>
      <p:sp>
        <p:nvSpPr>
          <p:cNvPr id="9" name="text">
            <a:extLst>
              <a:ext uri="{FF2B5EF4-FFF2-40B4-BE49-F238E27FC236}">
                <a16:creationId xmlns:a16="http://schemas.microsoft.com/office/drawing/2014/main" id="{C4770EB8-0D97-4631-AF6E-5F4910F5CA24}"/>
              </a:ext>
            </a:extLst>
          </p:cNvPr>
          <p:cNvSpPr>
            <a:spLocks noGrp="1"/>
          </p:cNvSpPr>
          <p:nvPr/>
        </p:nvSpPr>
        <p:spPr>
          <a:xfrm>
            <a:off x="781050" y="26098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How I did it</a:t>
            </a:r>
          </a:p>
        </p:txBody>
      </p:sp>
      <p:sp>
        <p:nvSpPr>
          <p:cNvPr id="10" name="text">
            <a:extLst>
              <a:ext uri="{FF2B5EF4-FFF2-40B4-BE49-F238E27FC236}">
                <a16:creationId xmlns:a16="http://schemas.microsoft.com/office/drawing/2014/main" id="{D3F91ED6-9A22-4CAF-BB88-121AA3807C47}"/>
              </a:ext>
            </a:extLst>
          </p:cNvPr>
          <p:cNvSpPr>
            <a:spLocks noGrp="1"/>
          </p:cNvSpPr>
          <p:nvPr/>
        </p:nvSpPr>
        <p:spPr>
          <a:xfrm>
            <a:off x="781050" y="2971800"/>
            <a:ext cx="10477500" cy="7429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used the pandas library to read the CSV into a table called a DataFrame. A DataFrame is like a table with rows and named columns.</a:t>
            </a:r>
          </a:p>
        </p:txBody>
      </p:sp>
      <p:sp>
        <p:nvSpPr>
          <p:cNvPr id="11" name="text">
            <a:extLst>
              <a:ext uri="{FF2B5EF4-FFF2-40B4-BE49-F238E27FC236}">
                <a16:creationId xmlns:a16="http://schemas.microsoft.com/office/drawing/2014/main" id="{8744FE6B-DEF3-42C6-8C26-BDF37C575434}"/>
              </a:ext>
            </a:extLst>
          </p:cNvPr>
          <p:cNvSpPr>
            <a:spLocks noGrp="1"/>
          </p:cNvSpPr>
          <p:nvPr/>
        </p:nvSpPr>
        <p:spPr>
          <a:xfrm>
            <a:off x="781050" y="38576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Why this step matters</a:t>
            </a:r>
          </a:p>
        </p:txBody>
      </p:sp>
      <p:sp>
        <p:nvSpPr>
          <p:cNvPr id="12" name="text">
            <a:extLst>
              <a:ext uri="{FF2B5EF4-FFF2-40B4-BE49-F238E27FC236}">
                <a16:creationId xmlns:a16="http://schemas.microsoft.com/office/drawing/2014/main" id="{31E3E1AA-ED03-47CC-855A-0301A31EEE90}"/>
              </a:ext>
            </a:extLst>
          </p:cNvPr>
          <p:cNvSpPr>
            <a:spLocks noGrp="1"/>
          </p:cNvSpPr>
          <p:nvPr/>
        </p:nvSpPr>
        <p:spPr>
          <a:xfrm>
            <a:off x="781050" y="4219575"/>
            <a:ext cx="10477500" cy="5905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Once the file is loaded, I can inspect, clean, summarize, and chart the data with Python.</a:t>
            </a:r>
          </a:p>
        </p:txBody>
      </p:sp>
    </p:spTree>
    <p:extLst>
      <p:ext uri="{BB962C8B-B14F-4D97-AF65-F5344CB8AC3E}">
        <p14:creationId xmlns:p14="http://schemas.microsoft.com/office/powerpoint/2010/main" val="721461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33351C8-B38B-4B9B-8B62-6B4D3187C817}"/>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ABD5ACBB-B1CB-4DE3-A66B-D07691B10FE9}"/>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LOAD AND INSPECT</a:t>
            </a:r>
          </a:p>
        </p:txBody>
      </p:sp>
      <p:sp>
        <p:nvSpPr>
          <p:cNvPr id="3" name="text">
            <a:extLst>
              <a:ext uri="{FF2B5EF4-FFF2-40B4-BE49-F238E27FC236}">
                <a16:creationId xmlns:a16="http://schemas.microsoft.com/office/drawing/2014/main" id="{111E4E77-CA5A-4E02-971A-FA6493A18141}"/>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Step 1  Inspect the dataset</a:t>
            </a:r>
          </a:p>
        </p:txBody>
      </p:sp>
      <p:sp>
        <p:nvSpPr>
          <p:cNvPr id="4" name="accent-line">
            <a:extLst>
              <a:ext uri="{FF2B5EF4-FFF2-40B4-BE49-F238E27FC236}">
                <a16:creationId xmlns:a16="http://schemas.microsoft.com/office/drawing/2014/main" id="{22A47360-F20D-4272-803E-D1241CEEE7A9}"/>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416758DE-FAFC-44A0-8E47-4FC1EBAEB3CA}"/>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9068B7AD-E5E7-4F8F-BECF-B7F4DB705FBF}"/>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07</a:t>
            </a:r>
          </a:p>
        </p:txBody>
      </p:sp>
      <p:sp>
        <p:nvSpPr>
          <p:cNvPr id="7" name="text">
            <a:extLst>
              <a:ext uri="{FF2B5EF4-FFF2-40B4-BE49-F238E27FC236}">
                <a16:creationId xmlns:a16="http://schemas.microsoft.com/office/drawing/2014/main" id="{BFB993F6-F9B4-4D3A-8E3C-2D7C61C7813F}"/>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I checked</a:t>
            </a:r>
          </a:p>
        </p:txBody>
      </p:sp>
      <p:sp>
        <p:nvSpPr>
          <p:cNvPr id="8" name="text">
            <a:extLst>
              <a:ext uri="{FF2B5EF4-FFF2-40B4-BE49-F238E27FC236}">
                <a16:creationId xmlns:a16="http://schemas.microsoft.com/office/drawing/2014/main" id="{0668FB35-9FFC-499E-AB17-6E8931869ACC}"/>
              </a:ext>
            </a:extLst>
          </p:cNvPr>
          <p:cNvSpPr>
            <a:spLocks noGrp="1"/>
          </p:cNvSpPr>
          <p:nvPr/>
        </p:nvSpPr>
        <p:spPr>
          <a:xfrm>
            <a:off x="781050" y="1943100"/>
            <a:ext cx="10477500" cy="6858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looked at the number of rows and columns, sample records, column names and data types, missing values, and duplicate rows.</a:t>
            </a:r>
          </a:p>
        </p:txBody>
      </p:sp>
      <p:sp>
        <p:nvSpPr>
          <p:cNvPr id="9" name="text">
            <a:extLst>
              <a:ext uri="{FF2B5EF4-FFF2-40B4-BE49-F238E27FC236}">
                <a16:creationId xmlns:a16="http://schemas.microsoft.com/office/drawing/2014/main" id="{9BED8C7B-ECB7-4541-B190-503917E54AE0}"/>
              </a:ext>
            </a:extLst>
          </p:cNvPr>
          <p:cNvSpPr>
            <a:spLocks noGrp="1"/>
          </p:cNvSpPr>
          <p:nvPr/>
        </p:nvSpPr>
        <p:spPr>
          <a:xfrm>
            <a:off x="781050" y="277177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the first check showed</a:t>
            </a:r>
          </a:p>
        </p:txBody>
      </p:sp>
      <p:sp>
        <p:nvSpPr>
          <p:cNvPr id="10" name="text">
            <a:extLst>
              <a:ext uri="{FF2B5EF4-FFF2-40B4-BE49-F238E27FC236}">
                <a16:creationId xmlns:a16="http://schemas.microsoft.com/office/drawing/2014/main" id="{2AA1A562-A8AB-403F-AC1A-CB422EA5AAE8}"/>
              </a:ext>
            </a:extLst>
          </p:cNvPr>
          <p:cNvSpPr>
            <a:spLocks noGrp="1"/>
          </p:cNvSpPr>
          <p:nvPr/>
        </p:nvSpPr>
        <p:spPr>
          <a:xfrm>
            <a:off x="781050" y="3133725"/>
            <a:ext cx="10477500" cy="6667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 dataset had 29,999 rows and 23 columns. Every column had a value in every row. There were no duplicate rows.</a:t>
            </a:r>
          </a:p>
        </p:txBody>
      </p:sp>
      <p:sp>
        <p:nvSpPr>
          <p:cNvPr id="11" name="text">
            <a:extLst>
              <a:ext uri="{FF2B5EF4-FFF2-40B4-BE49-F238E27FC236}">
                <a16:creationId xmlns:a16="http://schemas.microsoft.com/office/drawing/2014/main" id="{F8DB8C15-11B2-4211-8C87-3BE93B978E8B}"/>
              </a:ext>
            </a:extLst>
          </p:cNvPr>
          <p:cNvSpPr>
            <a:spLocks noGrp="1"/>
          </p:cNvSpPr>
          <p:nvPr/>
        </p:nvSpPr>
        <p:spPr>
          <a:xfrm>
            <a:off x="781050" y="39433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Why inspect before cleaning?</a:t>
            </a:r>
          </a:p>
        </p:txBody>
      </p:sp>
      <p:sp>
        <p:nvSpPr>
          <p:cNvPr id="12" name="text">
            <a:extLst>
              <a:ext uri="{FF2B5EF4-FFF2-40B4-BE49-F238E27FC236}">
                <a16:creationId xmlns:a16="http://schemas.microsoft.com/office/drawing/2014/main" id="{5D9C8A49-D64B-4951-9FD3-3578F4146524}"/>
              </a:ext>
            </a:extLst>
          </p:cNvPr>
          <p:cNvSpPr>
            <a:spLocks noGrp="1"/>
          </p:cNvSpPr>
          <p:nvPr/>
        </p:nvSpPr>
        <p:spPr>
          <a:xfrm>
            <a:off x="781050" y="4305300"/>
            <a:ext cx="10477500" cy="6477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 first check shows what the file contains and helps decide which cleaning checks are needed.</a:t>
            </a:r>
          </a:p>
        </p:txBody>
      </p:sp>
    </p:spTree>
    <p:extLst>
      <p:ext uri="{BB962C8B-B14F-4D97-AF65-F5344CB8AC3E}">
        <p14:creationId xmlns:p14="http://schemas.microsoft.com/office/powerpoint/2010/main" val="1341355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759D23E-1369-4993-8A4B-4F6C10EDC121}"/>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A26C8A56-92E7-4E15-B1BF-8B884C81B7D9}"/>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CLEANING</a:t>
            </a:r>
          </a:p>
        </p:txBody>
      </p:sp>
      <p:sp>
        <p:nvSpPr>
          <p:cNvPr id="3" name="text">
            <a:extLst>
              <a:ext uri="{FF2B5EF4-FFF2-40B4-BE49-F238E27FC236}">
                <a16:creationId xmlns:a16="http://schemas.microsoft.com/office/drawing/2014/main" id="{BF5AD628-83B1-4581-B517-49846EB51C20}"/>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Step 2  Data cleaning checks</a:t>
            </a:r>
          </a:p>
        </p:txBody>
      </p:sp>
      <p:sp>
        <p:nvSpPr>
          <p:cNvPr id="4" name="accent-line">
            <a:extLst>
              <a:ext uri="{FF2B5EF4-FFF2-40B4-BE49-F238E27FC236}">
                <a16:creationId xmlns:a16="http://schemas.microsoft.com/office/drawing/2014/main" id="{76A429A6-1959-4E5D-9E79-5C3934FC05BE}"/>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EE14FD20-6A43-4FEB-81D5-A97198EB2ECA}"/>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75A6C2A0-0D9E-4FD7-A6C1-ABBC9EAE7DEA}"/>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08</a:t>
            </a:r>
          </a:p>
        </p:txBody>
      </p:sp>
      <p:sp>
        <p:nvSpPr>
          <p:cNvPr id="7" name="text">
            <a:extLst>
              <a:ext uri="{FF2B5EF4-FFF2-40B4-BE49-F238E27FC236}">
                <a16:creationId xmlns:a16="http://schemas.microsoft.com/office/drawing/2014/main" id="{C0E0661C-21E6-451E-8D56-E6C2449A1DED}"/>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Missing values and duplicates</a:t>
            </a:r>
          </a:p>
        </p:txBody>
      </p:sp>
      <p:sp>
        <p:nvSpPr>
          <p:cNvPr id="8" name="text">
            <a:extLst>
              <a:ext uri="{FF2B5EF4-FFF2-40B4-BE49-F238E27FC236}">
                <a16:creationId xmlns:a16="http://schemas.microsoft.com/office/drawing/2014/main" id="{FA640AF8-9C57-4E14-A8A5-E0687A747E2C}"/>
              </a:ext>
            </a:extLst>
          </p:cNvPr>
          <p:cNvSpPr>
            <a:spLocks noGrp="1"/>
          </p:cNvSpPr>
          <p:nvPr/>
        </p:nvSpPr>
        <p:spPr>
          <a:xfrm>
            <a:off x="781050" y="1943100"/>
            <a:ext cx="10477500" cy="5524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checked for blank cells, repeated rows, and repeated post IDs. None were found.</a:t>
            </a:r>
          </a:p>
        </p:txBody>
      </p:sp>
      <p:sp>
        <p:nvSpPr>
          <p:cNvPr id="9" name="text">
            <a:extLst>
              <a:ext uri="{FF2B5EF4-FFF2-40B4-BE49-F238E27FC236}">
                <a16:creationId xmlns:a16="http://schemas.microsoft.com/office/drawing/2014/main" id="{1ADD48EA-448C-4968-A621-5A5BAD4D47B4}"/>
              </a:ext>
            </a:extLst>
          </p:cNvPr>
          <p:cNvSpPr>
            <a:spLocks noGrp="1"/>
          </p:cNvSpPr>
          <p:nvPr/>
        </p:nvSpPr>
        <p:spPr>
          <a:xfrm>
            <a:off x="781050" y="26384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Date and time formats</a:t>
            </a:r>
          </a:p>
        </p:txBody>
      </p:sp>
      <p:sp>
        <p:nvSpPr>
          <p:cNvPr id="10" name="text">
            <a:extLst>
              <a:ext uri="{FF2B5EF4-FFF2-40B4-BE49-F238E27FC236}">
                <a16:creationId xmlns:a16="http://schemas.microsoft.com/office/drawing/2014/main" id="{B97C6823-196F-484E-822B-FA5D633FB12E}"/>
              </a:ext>
            </a:extLst>
          </p:cNvPr>
          <p:cNvSpPr>
            <a:spLocks noGrp="1"/>
          </p:cNvSpPr>
          <p:nvPr/>
        </p:nvSpPr>
        <p:spPr>
          <a:xfrm>
            <a:off x="781050" y="3000375"/>
            <a:ext cx="10477500" cy="6286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 date fields started as text. I changed them into date-time values so Python could read dates and times correctly.</a:t>
            </a:r>
          </a:p>
        </p:txBody>
      </p:sp>
      <p:sp>
        <p:nvSpPr>
          <p:cNvPr id="11" name="text">
            <a:extLst>
              <a:ext uri="{FF2B5EF4-FFF2-40B4-BE49-F238E27FC236}">
                <a16:creationId xmlns:a16="http://schemas.microsoft.com/office/drawing/2014/main" id="{E746B31B-47F1-4877-A9D8-939BC8F79B14}"/>
              </a:ext>
            </a:extLst>
          </p:cNvPr>
          <p:cNvSpPr>
            <a:spLocks noGrp="1"/>
          </p:cNvSpPr>
          <p:nvPr/>
        </p:nvSpPr>
        <p:spPr>
          <a:xfrm>
            <a:off x="781050" y="37719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Date consistency</a:t>
            </a:r>
          </a:p>
        </p:txBody>
      </p:sp>
      <p:sp>
        <p:nvSpPr>
          <p:cNvPr id="12" name="text">
            <a:extLst>
              <a:ext uri="{FF2B5EF4-FFF2-40B4-BE49-F238E27FC236}">
                <a16:creationId xmlns:a16="http://schemas.microsoft.com/office/drawing/2014/main" id="{422BB89C-5239-4044-8456-A1F1A657705A}"/>
              </a:ext>
            </a:extLst>
          </p:cNvPr>
          <p:cNvSpPr>
            <a:spLocks noGrp="1"/>
          </p:cNvSpPr>
          <p:nvPr/>
        </p:nvSpPr>
        <p:spPr>
          <a:xfrm>
            <a:off x="781050" y="4133850"/>
            <a:ext cx="10477500" cy="6096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compared the date, hour, and weekday columns with the full post date and time. They all matched.</a:t>
            </a:r>
          </a:p>
        </p:txBody>
      </p:sp>
      <p:sp>
        <p:nvSpPr>
          <p:cNvPr id="13" name="text">
            <a:extLst>
              <a:ext uri="{FF2B5EF4-FFF2-40B4-BE49-F238E27FC236}">
                <a16:creationId xmlns:a16="http://schemas.microsoft.com/office/drawing/2014/main" id="{06261E7B-3EC0-4A4D-A45F-36AB028C2632}"/>
              </a:ext>
            </a:extLst>
          </p:cNvPr>
          <p:cNvSpPr>
            <a:spLocks noGrp="1"/>
          </p:cNvSpPr>
          <p:nvPr/>
        </p:nvSpPr>
        <p:spPr>
          <a:xfrm>
            <a:off x="781050" y="48863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Why it matters</a:t>
            </a:r>
          </a:p>
        </p:txBody>
      </p:sp>
      <p:sp>
        <p:nvSpPr>
          <p:cNvPr id="14" name="text">
            <a:extLst>
              <a:ext uri="{FF2B5EF4-FFF2-40B4-BE49-F238E27FC236}">
                <a16:creationId xmlns:a16="http://schemas.microsoft.com/office/drawing/2014/main" id="{C3BFEE96-6535-448B-9199-B6F24AF04AC1}"/>
              </a:ext>
            </a:extLst>
          </p:cNvPr>
          <p:cNvSpPr>
            <a:spLocks noGrp="1"/>
          </p:cNvSpPr>
          <p:nvPr/>
        </p:nvSpPr>
        <p:spPr>
          <a:xfrm>
            <a:off x="781050" y="5248275"/>
            <a:ext cx="10477500" cy="5334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These checks help prevent errors when we group posts by date or compare them.</a:t>
            </a:r>
          </a:p>
        </p:txBody>
      </p:sp>
    </p:spTree>
    <p:extLst>
      <p:ext uri="{BB962C8B-B14F-4D97-AF65-F5344CB8AC3E}">
        <p14:creationId xmlns:p14="http://schemas.microsoft.com/office/powerpoint/2010/main" val="754934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61BF23B-471F-4A2E-AF48-99706E33E121}"/>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E3FA2458-F7AC-4BC8-AB89-90B360B701CF}"/>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CLEANING</a:t>
            </a:r>
          </a:p>
        </p:txBody>
      </p:sp>
      <p:sp>
        <p:nvSpPr>
          <p:cNvPr id="3" name="text">
            <a:extLst>
              <a:ext uri="{FF2B5EF4-FFF2-40B4-BE49-F238E27FC236}">
                <a16:creationId xmlns:a16="http://schemas.microsoft.com/office/drawing/2014/main" id="{CB4777DE-44BB-4E10-BE90-75977BE86E86}"/>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Step 2  Check values and categories</a:t>
            </a:r>
          </a:p>
        </p:txBody>
      </p:sp>
      <p:sp>
        <p:nvSpPr>
          <p:cNvPr id="4" name="accent-line">
            <a:extLst>
              <a:ext uri="{FF2B5EF4-FFF2-40B4-BE49-F238E27FC236}">
                <a16:creationId xmlns:a16="http://schemas.microsoft.com/office/drawing/2014/main" id="{D7AE113A-D2CA-44ED-A20E-C17F609D0580}"/>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8D7555EA-90AD-4E17-8203-A5BB63329B3E}"/>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5AA4FEEF-E33D-4843-9FB9-DCC56F721265}"/>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09</a:t>
            </a:r>
          </a:p>
        </p:txBody>
      </p:sp>
      <p:sp>
        <p:nvSpPr>
          <p:cNvPr id="7" name="text">
            <a:extLst>
              <a:ext uri="{FF2B5EF4-FFF2-40B4-BE49-F238E27FC236}">
                <a16:creationId xmlns:a16="http://schemas.microsoft.com/office/drawing/2014/main" id="{ED431228-03EE-4B6A-9076-BE64698006A1}"/>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Numeric checks</a:t>
            </a:r>
          </a:p>
        </p:txBody>
      </p:sp>
      <p:sp>
        <p:nvSpPr>
          <p:cNvPr id="8" name="text">
            <a:extLst>
              <a:ext uri="{FF2B5EF4-FFF2-40B4-BE49-F238E27FC236}">
                <a16:creationId xmlns:a16="http://schemas.microsoft.com/office/drawing/2014/main" id="{FBE83081-C9B0-4708-A8E3-7831AF6CCD47}"/>
              </a:ext>
            </a:extLst>
          </p:cNvPr>
          <p:cNvSpPr>
            <a:spLocks noGrp="1"/>
          </p:cNvSpPr>
          <p:nvPr/>
        </p:nvSpPr>
        <p:spPr>
          <a:xfrm>
            <a:off x="781050" y="1943100"/>
            <a:ext cx="10477500" cy="7810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checked that counts were not negative, posting hours were between 0 and 23, engagement rates were between 0 and 1, and impressions were not below reach.</a:t>
            </a:r>
          </a:p>
        </p:txBody>
      </p:sp>
      <p:sp>
        <p:nvSpPr>
          <p:cNvPr id="9" name="text">
            <a:extLst>
              <a:ext uri="{FF2B5EF4-FFF2-40B4-BE49-F238E27FC236}">
                <a16:creationId xmlns:a16="http://schemas.microsoft.com/office/drawing/2014/main" id="{408F38D1-BAFE-43C5-AB4B-FA8298D6A50A}"/>
              </a:ext>
            </a:extLst>
          </p:cNvPr>
          <p:cNvSpPr>
            <a:spLocks noGrp="1"/>
          </p:cNvSpPr>
          <p:nvPr/>
        </p:nvSpPr>
        <p:spPr>
          <a:xfrm>
            <a:off x="781050" y="28670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Call-to-action values</a:t>
            </a:r>
          </a:p>
        </p:txBody>
      </p:sp>
      <p:sp>
        <p:nvSpPr>
          <p:cNvPr id="10" name="text">
            <a:extLst>
              <a:ext uri="{FF2B5EF4-FFF2-40B4-BE49-F238E27FC236}">
                <a16:creationId xmlns:a16="http://schemas.microsoft.com/office/drawing/2014/main" id="{BCDDA1DA-B913-4A01-A1B1-5DE8B165F52A}"/>
              </a:ext>
            </a:extLst>
          </p:cNvPr>
          <p:cNvSpPr>
            <a:spLocks noGrp="1"/>
          </p:cNvSpPr>
          <p:nvPr/>
        </p:nvSpPr>
        <p:spPr>
          <a:xfrm>
            <a:off x="781050" y="3228975"/>
            <a:ext cx="10477500" cy="6096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checked that this column contained only 0 and 1. Here, 0 means no call to action and 1 means there is one.</a:t>
            </a:r>
          </a:p>
        </p:txBody>
      </p:sp>
      <p:sp>
        <p:nvSpPr>
          <p:cNvPr id="11" name="text">
            <a:extLst>
              <a:ext uri="{FF2B5EF4-FFF2-40B4-BE49-F238E27FC236}">
                <a16:creationId xmlns:a16="http://schemas.microsoft.com/office/drawing/2014/main" id="{50EE1A88-BE12-4900-B86B-FAFCB970398F}"/>
              </a:ext>
            </a:extLst>
          </p:cNvPr>
          <p:cNvSpPr>
            <a:spLocks noGrp="1"/>
          </p:cNvSpPr>
          <p:nvPr/>
        </p:nvSpPr>
        <p:spPr>
          <a:xfrm>
            <a:off x="781050" y="39814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Category checks</a:t>
            </a:r>
          </a:p>
        </p:txBody>
      </p:sp>
      <p:sp>
        <p:nvSpPr>
          <p:cNvPr id="12" name="text">
            <a:extLst>
              <a:ext uri="{FF2B5EF4-FFF2-40B4-BE49-F238E27FC236}">
                <a16:creationId xmlns:a16="http://schemas.microsoft.com/office/drawing/2014/main" id="{5CC6100A-A74D-487A-B689-4B753CE56442}"/>
              </a:ext>
            </a:extLst>
          </p:cNvPr>
          <p:cNvSpPr>
            <a:spLocks noGrp="1"/>
          </p:cNvSpPr>
          <p:nvPr/>
        </p:nvSpPr>
        <p:spPr>
          <a:xfrm>
            <a:off x="781050" y="4343400"/>
            <a:ext cx="10477500" cy="7048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checked labels such as brand or creator, image or reel, and the content and traffic-source categories. No unexpected labels appeared.</a:t>
            </a:r>
          </a:p>
        </p:txBody>
      </p:sp>
    </p:spTree>
    <p:extLst>
      <p:ext uri="{BB962C8B-B14F-4D97-AF65-F5344CB8AC3E}">
        <p14:creationId xmlns:p14="http://schemas.microsoft.com/office/powerpoint/2010/main" val="1572360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9176D12-757D-4A6D-B02B-8E689848D0D2}"/>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E17D3B9D-D4D8-4EE8-B271-32E5D4834BB7}"/>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CLEANING</a:t>
            </a:r>
          </a:p>
        </p:txBody>
      </p:sp>
      <p:sp>
        <p:nvSpPr>
          <p:cNvPr id="3" name="text">
            <a:extLst>
              <a:ext uri="{FF2B5EF4-FFF2-40B4-BE49-F238E27FC236}">
                <a16:creationId xmlns:a16="http://schemas.microsoft.com/office/drawing/2014/main" id="{49FCACF9-E57E-4D3C-B98F-35054208235F}"/>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Data cleaning summary</a:t>
            </a:r>
          </a:p>
        </p:txBody>
      </p:sp>
      <p:sp>
        <p:nvSpPr>
          <p:cNvPr id="4" name="accent-line">
            <a:extLst>
              <a:ext uri="{FF2B5EF4-FFF2-40B4-BE49-F238E27FC236}">
                <a16:creationId xmlns:a16="http://schemas.microsoft.com/office/drawing/2014/main" id="{B62E8E5A-D838-4105-BD38-0801DE4CA92F}"/>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5CA6516D-6264-418C-B661-EF34D00DBDFA}"/>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3903FF19-5FA1-4B52-BF0F-3C8E1F86CC8A}"/>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10</a:t>
            </a:r>
          </a:p>
        </p:txBody>
      </p:sp>
      <p:sp>
        <p:nvSpPr>
          <p:cNvPr id="7" name="text">
            <a:extLst>
              <a:ext uri="{FF2B5EF4-FFF2-40B4-BE49-F238E27FC236}">
                <a16:creationId xmlns:a16="http://schemas.microsoft.com/office/drawing/2014/main" id="{9F64FDD3-424A-47F4-87CD-C2E951B7B768}"/>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The checks passed</a:t>
            </a:r>
          </a:p>
        </p:txBody>
      </p:sp>
      <p:sp>
        <p:nvSpPr>
          <p:cNvPr id="8" name="text">
            <a:extLst>
              <a:ext uri="{FF2B5EF4-FFF2-40B4-BE49-F238E27FC236}">
                <a16:creationId xmlns:a16="http://schemas.microsoft.com/office/drawing/2014/main" id="{C62C5D7A-5C20-49B7-AC3C-C0467EAF50C0}"/>
              </a:ext>
            </a:extLst>
          </p:cNvPr>
          <p:cNvSpPr>
            <a:spLocks noGrp="1"/>
          </p:cNvSpPr>
          <p:nvPr/>
        </p:nvSpPr>
        <p:spPr>
          <a:xfrm>
            <a:off x="781050" y="1943100"/>
            <a:ext cx="10477500" cy="8191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No missing values. No duplicate rows or post IDs. No date mismatches. No invalid numeric values or unexpected category labels.</a:t>
            </a:r>
          </a:p>
        </p:txBody>
      </p:sp>
      <p:sp>
        <p:nvSpPr>
          <p:cNvPr id="9" name="text">
            <a:extLst>
              <a:ext uri="{FF2B5EF4-FFF2-40B4-BE49-F238E27FC236}">
                <a16:creationId xmlns:a16="http://schemas.microsoft.com/office/drawing/2014/main" id="{B0A6FBFA-14E5-4E5B-97B2-BC5C217869D8}"/>
              </a:ext>
            </a:extLst>
          </p:cNvPr>
          <p:cNvSpPr>
            <a:spLocks noGrp="1"/>
          </p:cNvSpPr>
          <p:nvPr/>
        </p:nvSpPr>
        <p:spPr>
          <a:xfrm>
            <a:off x="781050" y="29051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changed</a:t>
            </a:r>
          </a:p>
        </p:txBody>
      </p:sp>
      <p:sp>
        <p:nvSpPr>
          <p:cNvPr id="10" name="text">
            <a:extLst>
              <a:ext uri="{FF2B5EF4-FFF2-40B4-BE49-F238E27FC236}">
                <a16:creationId xmlns:a16="http://schemas.microsoft.com/office/drawing/2014/main" id="{15BE1DF8-F1F2-40F8-847B-F2B8CE571947}"/>
              </a:ext>
            </a:extLst>
          </p:cNvPr>
          <p:cNvSpPr>
            <a:spLocks noGrp="1"/>
          </p:cNvSpPr>
          <p:nvPr/>
        </p:nvSpPr>
        <p:spPr>
          <a:xfrm>
            <a:off x="781050" y="3267075"/>
            <a:ext cx="10477500" cy="5334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converted the date and time columns into date-time format.</a:t>
            </a:r>
          </a:p>
        </p:txBody>
      </p:sp>
      <p:sp>
        <p:nvSpPr>
          <p:cNvPr id="11" name="text">
            <a:extLst>
              <a:ext uri="{FF2B5EF4-FFF2-40B4-BE49-F238E27FC236}">
                <a16:creationId xmlns:a16="http://schemas.microsoft.com/office/drawing/2014/main" id="{101BB80E-4FC7-48CD-98F6-03EE364F32CE}"/>
              </a:ext>
            </a:extLst>
          </p:cNvPr>
          <p:cNvSpPr>
            <a:spLocks noGrp="1"/>
          </p:cNvSpPr>
          <p:nvPr/>
        </p:nvSpPr>
        <p:spPr>
          <a:xfrm>
            <a:off x="781050" y="39433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stayed</a:t>
            </a:r>
          </a:p>
        </p:txBody>
      </p:sp>
      <p:sp>
        <p:nvSpPr>
          <p:cNvPr id="12" name="text">
            <a:extLst>
              <a:ext uri="{FF2B5EF4-FFF2-40B4-BE49-F238E27FC236}">
                <a16:creationId xmlns:a16="http://schemas.microsoft.com/office/drawing/2014/main" id="{EFE3B3C1-ACB2-4D03-A61E-E97F0232663E}"/>
              </a:ext>
            </a:extLst>
          </p:cNvPr>
          <p:cNvSpPr>
            <a:spLocks noGrp="1"/>
          </p:cNvSpPr>
          <p:nvPr/>
        </p:nvSpPr>
        <p:spPr>
          <a:xfrm>
            <a:off x="781050" y="4305300"/>
            <a:ext cx="10477500" cy="6096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All 29,999 posts stayed in the dataset because none needed to be removed or corrected.</a:t>
            </a:r>
          </a:p>
        </p:txBody>
      </p:sp>
    </p:spTree>
    <p:extLst>
      <p:ext uri="{BB962C8B-B14F-4D97-AF65-F5344CB8AC3E}">
        <p14:creationId xmlns:p14="http://schemas.microsoft.com/office/powerpoint/2010/main" val="912754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6748909F-C1AD-4FFE-A26A-E0CBF3E1206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C5B1E0D9-49B1-41C7-A7AF-65A77F0064E6}"/>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PREPROCESSING</a:t>
            </a:r>
          </a:p>
        </p:txBody>
      </p:sp>
      <p:sp>
        <p:nvSpPr>
          <p:cNvPr id="3" name="text">
            <a:extLst>
              <a:ext uri="{FF2B5EF4-FFF2-40B4-BE49-F238E27FC236}">
                <a16:creationId xmlns:a16="http://schemas.microsoft.com/office/drawing/2014/main" id="{F8DC890E-AD62-43CC-9A2E-FE4FF8B0ADDA}"/>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Three columns I created</a:t>
            </a:r>
          </a:p>
        </p:txBody>
      </p:sp>
      <p:sp>
        <p:nvSpPr>
          <p:cNvPr id="4" name="accent-line">
            <a:extLst>
              <a:ext uri="{FF2B5EF4-FFF2-40B4-BE49-F238E27FC236}">
                <a16:creationId xmlns:a16="http://schemas.microsoft.com/office/drawing/2014/main" id="{92DDA0BD-CFF8-494E-BDD0-283583BFF0F3}"/>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4F76838F-7026-40AE-975D-657DF77BD5FA}"/>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4FB2A47D-A137-40F7-AD14-985A8E66672B}"/>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11</a:t>
            </a:r>
          </a:p>
        </p:txBody>
      </p:sp>
      <p:sp>
        <p:nvSpPr>
          <p:cNvPr id="7" name="text">
            <a:extLst>
              <a:ext uri="{FF2B5EF4-FFF2-40B4-BE49-F238E27FC236}">
                <a16:creationId xmlns:a16="http://schemas.microsoft.com/office/drawing/2014/main" id="{5E6D52F3-1B6B-4963-923A-0D74C9208D90}"/>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Total interactions</a:t>
            </a:r>
          </a:p>
        </p:txBody>
      </p:sp>
      <p:sp>
        <p:nvSpPr>
          <p:cNvPr id="8" name="text">
            <a:extLst>
              <a:ext uri="{FF2B5EF4-FFF2-40B4-BE49-F238E27FC236}">
                <a16:creationId xmlns:a16="http://schemas.microsoft.com/office/drawing/2014/main" id="{2890101F-955B-4A13-956E-850C01AAB09D}"/>
              </a:ext>
            </a:extLst>
          </p:cNvPr>
          <p:cNvSpPr>
            <a:spLocks noGrp="1"/>
          </p:cNvSpPr>
          <p:nvPr/>
        </p:nvSpPr>
        <p:spPr>
          <a:xfrm>
            <a:off x="781050" y="1943100"/>
            <a:ext cx="10477500" cy="61912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Likes + comments + shares + saves. This gives one combined count of four ways people interacted with a post.</a:t>
            </a:r>
          </a:p>
        </p:txBody>
      </p:sp>
      <p:sp>
        <p:nvSpPr>
          <p:cNvPr id="9" name="text">
            <a:extLst>
              <a:ext uri="{FF2B5EF4-FFF2-40B4-BE49-F238E27FC236}">
                <a16:creationId xmlns:a16="http://schemas.microsoft.com/office/drawing/2014/main" id="{6CB72EBB-0877-4D6B-8D61-59CF18F2EE7F}"/>
              </a:ext>
            </a:extLst>
          </p:cNvPr>
          <p:cNvSpPr>
            <a:spLocks noGrp="1"/>
          </p:cNvSpPr>
          <p:nvPr/>
        </p:nvSpPr>
        <p:spPr>
          <a:xfrm>
            <a:off x="781050" y="27051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Post year</a:t>
            </a:r>
          </a:p>
        </p:txBody>
      </p:sp>
      <p:sp>
        <p:nvSpPr>
          <p:cNvPr id="10" name="text">
            <a:extLst>
              <a:ext uri="{FF2B5EF4-FFF2-40B4-BE49-F238E27FC236}">
                <a16:creationId xmlns:a16="http://schemas.microsoft.com/office/drawing/2014/main" id="{66738A2A-CBAE-4422-99AD-476BF8706C2E}"/>
              </a:ext>
            </a:extLst>
          </p:cNvPr>
          <p:cNvSpPr>
            <a:spLocks noGrp="1"/>
          </p:cNvSpPr>
          <p:nvPr/>
        </p:nvSpPr>
        <p:spPr>
          <a:xfrm>
            <a:off x="781050" y="3067050"/>
            <a:ext cx="10477500" cy="5334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 year taken from the post date. It can help group posts by year.</a:t>
            </a:r>
          </a:p>
        </p:txBody>
      </p:sp>
      <p:sp>
        <p:nvSpPr>
          <p:cNvPr id="11" name="text">
            <a:extLst>
              <a:ext uri="{FF2B5EF4-FFF2-40B4-BE49-F238E27FC236}">
                <a16:creationId xmlns:a16="http://schemas.microsoft.com/office/drawing/2014/main" id="{E1155411-ADA3-490B-B2F8-C2210F19F101}"/>
              </a:ext>
            </a:extLst>
          </p:cNvPr>
          <p:cNvSpPr>
            <a:spLocks noGrp="1"/>
          </p:cNvSpPr>
          <p:nvPr/>
        </p:nvSpPr>
        <p:spPr>
          <a:xfrm>
            <a:off x="781050" y="37433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Post month</a:t>
            </a:r>
          </a:p>
        </p:txBody>
      </p:sp>
      <p:sp>
        <p:nvSpPr>
          <p:cNvPr id="12" name="text">
            <a:extLst>
              <a:ext uri="{FF2B5EF4-FFF2-40B4-BE49-F238E27FC236}">
                <a16:creationId xmlns:a16="http://schemas.microsoft.com/office/drawing/2014/main" id="{4BD9657E-BCF8-4BB0-96AA-8961899CF180}"/>
              </a:ext>
            </a:extLst>
          </p:cNvPr>
          <p:cNvSpPr>
            <a:spLocks noGrp="1"/>
          </p:cNvSpPr>
          <p:nvPr/>
        </p:nvSpPr>
        <p:spPr>
          <a:xfrm>
            <a:off x="781050" y="4105275"/>
            <a:ext cx="10477500" cy="5524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 month name taken from the post date. It can help compare posts by month.</a:t>
            </a:r>
          </a:p>
        </p:txBody>
      </p:sp>
      <p:sp>
        <p:nvSpPr>
          <p:cNvPr id="13" name="text">
            <a:extLst>
              <a:ext uri="{FF2B5EF4-FFF2-40B4-BE49-F238E27FC236}">
                <a16:creationId xmlns:a16="http://schemas.microsoft.com/office/drawing/2014/main" id="{50FF2B97-2E13-43D4-817F-3BB912F2047A}"/>
              </a:ext>
            </a:extLst>
          </p:cNvPr>
          <p:cNvSpPr>
            <a:spLocks noGrp="1"/>
          </p:cNvSpPr>
          <p:nvPr/>
        </p:nvSpPr>
        <p:spPr>
          <a:xfrm>
            <a:off x="781050" y="48006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Why create them?</a:t>
            </a:r>
          </a:p>
        </p:txBody>
      </p:sp>
      <p:sp>
        <p:nvSpPr>
          <p:cNvPr id="14" name="text">
            <a:extLst>
              <a:ext uri="{FF2B5EF4-FFF2-40B4-BE49-F238E27FC236}">
                <a16:creationId xmlns:a16="http://schemas.microsoft.com/office/drawing/2014/main" id="{B9898731-6E12-4037-851C-DA0346E03AD6}"/>
              </a:ext>
            </a:extLst>
          </p:cNvPr>
          <p:cNvSpPr>
            <a:spLocks noGrp="1"/>
          </p:cNvSpPr>
          <p:nvPr/>
        </p:nvSpPr>
        <p:spPr>
          <a:xfrm>
            <a:off x="781050" y="5162550"/>
            <a:ext cx="10477500" cy="5524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These columns make it easier to compare overall interaction counts and explore time patterns.</a:t>
            </a:r>
          </a:p>
        </p:txBody>
      </p:sp>
    </p:spTree>
    <p:extLst>
      <p:ext uri="{BB962C8B-B14F-4D97-AF65-F5344CB8AC3E}">
        <p14:creationId xmlns:p14="http://schemas.microsoft.com/office/powerpoint/2010/main" val="216241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31E0127-1BC3-4DB8-B7AF-614090D6559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E12B6F7B-8E25-4520-A997-4F591B2FB2AD}"/>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PREPROCESSING</a:t>
            </a:r>
          </a:p>
        </p:txBody>
      </p:sp>
      <p:sp>
        <p:nvSpPr>
          <p:cNvPr id="3" name="text">
            <a:extLst>
              <a:ext uri="{FF2B5EF4-FFF2-40B4-BE49-F238E27FC236}">
                <a16:creationId xmlns:a16="http://schemas.microsoft.com/office/drawing/2014/main" id="{B06CD318-4CBE-4BD2-B3DB-B9D9C67F7C63}"/>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Data preprocessing summary</a:t>
            </a:r>
          </a:p>
        </p:txBody>
      </p:sp>
      <p:sp>
        <p:nvSpPr>
          <p:cNvPr id="4" name="accent-line">
            <a:extLst>
              <a:ext uri="{FF2B5EF4-FFF2-40B4-BE49-F238E27FC236}">
                <a16:creationId xmlns:a16="http://schemas.microsoft.com/office/drawing/2014/main" id="{1C075D04-BF9C-46A9-A8A8-4269B8EF871E}"/>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28C9E165-B040-48A1-AF87-545F060ACD2A}"/>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D69343D1-E2E6-4580-8D50-B3D8D2F8A9A1}"/>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12</a:t>
            </a:r>
          </a:p>
        </p:txBody>
      </p:sp>
      <p:sp>
        <p:nvSpPr>
          <p:cNvPr id="7" name="text">
            <a:extLst>
              <a:ext uri="{FF2B5EF4-FFF2-40B4-BE49-F238E27FC236}">
                <a16:creationId xmlns:a16="http://schemas.microsoft.com/office/drawing/2014/main" id="{498D9D63-26C4-4601-B2D9-7F85D249720D}"/>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Final working dataset</a:t>
            </a:r>
          </a:p>
        </p:txBody>
      </p:sp>
      <p:sp>
        <p:nvSpPr>
          <p:cNvPr id="8" name="text">
            <a:extLst>
              <a:ext uri="{FF2B5EF4-FFF2-40B4-BE49-F238E27FC236}">
                <a16:creationId xmlns:a16="http://schemas.microsoft.com/office/drawing/2014/main" id="{68871C9D-0902-478E-B365-2954C5350DAA}"/>
              </a:ext>
            </a:extLst>
          </p:cNvPr>
          <p:cNvSpPr>
            <a:spLocks noGrp="1"/>
          </p:cNvSpPr>
          <p:nvPr/>
        </p:nvSpPr>
        <p:spPr>
          <a:xfrm>
            <a:off x="781050" y="1943100"/>
            <a:ext cx="10477500" cy="4953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29,999 rows and 26 columns.</a:t>
            </a:r>
          </a:p>
        </p:txBody>
      </p:sp>
      <p:sp>
        <p:nvSpPr>
          <p:cNvPr id="9" name="text">
            <a:extLst>
              <a:ext uri="{FF2B5EF4-FFF2-40B4-BE49-F238E27FC236}">
                <a16:creationId xmlns:a16="http://schemas.microsoft.com/office/drawing/2014/main" id="{FE986BB9-A6D9-49EB-AA21-EFB83FD2F6FA}"/>
              </a:ext>
            </a:extLst>
          </p:cNvPr>
          <p:cNvSpPr>
            <a:spLocks noGrp="1"/>
          </p:cNvSpPr>
          <p:nvPr/>
        </p:nvSpPr>
        <p:spPr>
          <a:xfrm>
            <a:off x="781050" y="258127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I did</a:t>
            </a:r>
          </a:p>
        </p:txBody>
      </p:sp>
      <p:sp>
        <p:nvSpPr>
          <p:cNvPr id="10" name="text">
            <a:extLst>
              <a:ext uri="{FF2B5EF4-FFF2-40B4-BE49-F238E27FC236}">
                <a16:creationId xmlns:a16="http://schemas.microsoft.com/office/drawing/2014/main" id="{3AB58F76-62EE-426E-9BDC-5742C6A71E79}"/>
              </a:ext>
            </a:extLst>
          </p:cNvPr>
          <p:cNvSpPr>
            <a:spLocks noGrp="1"/>
          </p:cNvSpPr>
          <p:nvPr/>
        </p:nvSpPr>
        <p:spPr>
          <a:xfrm>
            <a:off x="781050" y="2943225"/>
            <a:ext cx="10477500" cy="7810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Checked missing values, duplicates, date consistency, numeric ranges, and category labels. Converted date fields. Added total interactions, year, and month.</a:t>
            </a:r>
          </a:p>
        </p:txBody>
      </p:sp>
      <p:sp>
        <p:nvSpPr>
          <p:cNvPr id="11" name="text">
            <a:extLst>
              <a:ext uri="{FF2B5EF4-FFF2-40B4-BE49-F238E27FC236}">
                <a16:creationId xmlns:a16="http://schemas.microsoft.com/office/drawing/2014/main" id="{877287CA-42B0-40D8-B9B9-79EE875E15C7}"/>
              </a:ext>
            </a:extLst>
          </p:cNvPr>
          <p:cNvSpPr>
            <a:spLocks noGrp="1"/>
          </p:cNvSpPr>
          <p:nvPr/>
        </p:nvSpPr>
        <p:spPr>
          <a:xfrm>
            <a:off x="781050" y="3867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Ready for analysis</a:t>
            </a:r>
          </a:p>
        </p:txBody>
      </p:sp>
      <p:sp>
        <p:nvSpPr>
          <p:cNvPr id="12" name="text">
            <a:extLst>
              <a:ext uri="{FF2B5EF4-FFF2-40B4-BE49-F238E27FC236}">
                <a16:creationId xmlns:a16="http://schemas.microsoft.com/office/drawing/2014/main" id="{034F173F-D609-466E-B871-379DD3EBB4F7}"/>
              </a:ext>
            </a:extLst>
          </p:cNvPr>
          <p:cNvSpPr>
            <a:spLocks noGrp="1"/>
          </p:cNvSpPr>
          <p:nvPr/>
        </p:nvSpPr>
        <p:spPr>
          <a:xfrm>
            <a:off x="781050" y="4229100"/>
            <a:ext cx="10477500" cy="5715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 data is now in a format that is easier to group, compare, and chart.</a:t>
            </a:r>
          </a:p>
        </p:txBody>
      </p:sp>
    </p:spTree>
    <p:extLst>
      <p:ext uri="{BB962C8B-B14F-4D97-AF65-F5344CB8AC3E}">
        <p14:creationId xmlns:p14="http://schemas.microsoft.com/office/powerpoint/2010/main" val="573818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4552238-44F9-4665-A2BA-4086250D1E9D}"/>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C9B9D456-E5C3-4221-A7A8-8845048ACE24}"/>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a:t>
            </a:r>
          </a:p>
        </p:txBody>
      </p:sp>
      <p:sp>
        <p:nvSpPr>
          <p:cNvPr id="3" name="text">
            <a:extLst>
              <a:ext uri="{FF2B5EF4-FFF2-40B4-BE49-F238E27FC236}">
                <a16:creationId xmlns:a16="http://schemas.microsoft.com/office/drawing/2014/main" id="{FC98B12E-D554-4907-93F4-8B442082D2CA}"/>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What is exploratory data analysis?</a:t>
            </a:r>
          </a:p>
        </p:txBody>
      </p:sp>
      <p:sp>
        <p:nvSpPr>
          <p:cNvPr id="4" name="accent-line">
            <a:extLst>
              <a:ext uri="{FF2B5EF4-FFF2-40B4-BE49-F238E27FC236}">
                <a16:creationId xmlns:a16="http://schemas.microsoft.com/office/drawing/2014/main" id="{00C4AAD9-46E7-4803-A774-7651C7A163CB}"/>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6486B99D-9F14-4B07-9FDA-43F089BEED13}"/>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E3F2EEEF-C6C7-475C-82B5-E2C338B9F3CD}"/>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13</a:t>
            </a:r>
          </a:p>
        </p:txBody>
      </p:sp>
      <p:sp>
        <p:nvSpPr>
          <p:cNvPr id="7" name="text">
            <a:extLst>
              <a:ext uri="{FF2B5EF4-FFF2-40B4-BE49-F238E27FC236}">
                <a16:creationId xmlns:a16="http://schemas.microsoft.com/office/drawing/2014/main" id="{24DB5B4E-986E-42E6-BE2D-9B1E6752BA66}"/>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EDA means exploring the data before drawing conclusions</a:t>
            </a:r>
          </a:p>
        </p:txBody>
      </p:sp>
      <p:sp>
        <p:nvSpPr>
          <p:cNvPr id="8" name="text">
            <a:extLst>
              <a:ext uri="{FF2B5EF4-FFF2-40B4-BE49-F238E27FC236}">
                <a16:creationId xmlns:a16="http://schemas.microsoft.com/office/drawing/2014/main" id="{255670EC-3D1D-4D46-8753-02D167F24DD4}"/>
              </a:ext>
            </a:extLst>
          </p:cNvPr>
          <p:cNvSpPr>
            <a:spLocks noGrp="1"/>
          </p:cNvSpPr>
          <p:nvPr/>
        </p:nvSpPr>
        <p:spPr>
          <a:xfrm>
            <a:off x="781050" y="1943100"/>
            <a:ext cx="10477500" cy="63817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look at the values, compare groups, and check patterns so I can understand what the dataset contains.</a:t>
            </a:r>
          </a:p>
        </p:txBody>
      </p:sp>
      <p:sp>
        <p:nvSpPr>
          <p:cNvPr id="9" name="text">
            <a:extLst>
              <a:ext uri="{FF2B5EF4-FFF2-40B4-BE49-F238E27FC236}">
                <a16:creationId xmlns:a16="http://schemas.microsoft.com/office/drawing/2014/main" id="{B85B8B27-AFCE-45AB-B92D-63B7DDB25684}"/>
              </a:ext>
            </a:extLst>
          </p:cNvPr>
          <p:cNvSpPr>
            <a:spLocks noGrp="1"/>
          </p:cNvSpPr>
          <p:nvPr/>
        </p:nvSpPr>
        <p:spPr>
          <a:xfrm>
            <a:off x="781050" y="2724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Simple examples</a:t>
            </a:r>
          </a:p>
        </p:txBody>
      </p:sp>
      <p:sp>
        <p:nvSpPr>
          <p:cNvPr id="10" name="text">
            <a:extLst>
              <a:ext uri="{FF2B5EF4-FFF2-40B4-BE49-F238E27FC236}">
                <a16:creationId xmlns:a16="http://schemas.microsoft.com/office/drawing/2014/main" id="{97DDCB72-949C-402F-80C5-E50AEFA54FF9}"/>
              </a:ext>
            </a:extLst>
          </p:cNvPr>
          <p:cNvSpPr>
            <a:spLocks noGrp="1"/>
          </p:cNvSpPr>
          <p:nvPr/>
        </p:nvSpPr>
        <p:spPr>
          <a:xfrm>
            <a:off x="781050" y="3086100"/>
            <a:ext cx="10477500" cy="7239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Which post type has more average interactions? Which content category has a higher engagement rate? Do reach and impressions move together?</a:t>
            </a:r>
          </a:p>
        </p:txBody>
      </p:sp>
      <p:sp>
        <p:nvSpPr>
          <p:cNvPr id="11" name="text">
            <a:extLst>
              <a:ext uri="{FF2B5EF4-FFF2-40B4-BE49-F238E27FC236}">
                <a16:creationId xmlns:a16="http://schemas.microsoft.com/office/drawing/2014/main" id="{B197E496-B541-428E-B39B-E603FDA55850}"/>
              </a:ext>
            </a:extLst>
          </p:cNvPr>
          <p:cNvSpPr>
            <a:spLocks noGrp="1"/>
          </p:cNvSpPr>
          <p:nvPr/>
        </p:nvSpPr>
        <p:spPr>
          <a:xfrm>
            <a:off x="781050" y="395287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Why do it?</a:t>
            </a:r>
          </a:p>
        </p:txBody>
      </p:sp>
      <p:sp>
        <p:nvSpPr>
          <p:cNvPr id="12" name="text">
            <a:extLst>
              <a:ext uri="{FF2B5EF4-FFF2-40B4-BE49-F238E27FC236}">
                <a16:creationId xmlns:a16="http://schemas.microsoft.com/office/drawing/2014/main" id="{B4C4A55C-5111-43AE-A5F3-B3B1EEA3EB57}"/>
              </a:ext>
            </a:extLst>
          </p:cNvPr>
          <p:cNvSpPr>
            <a:spLocks noGrp="1"/>
          </p:cNvSpPr>
          <p:nvPr/>
        </p:nvSpPr>
        <p:spPr>
          <a:xfrm>
            <a:off x="781050" y="4314825"/>
            <a:ext cx="10477500" cy="6477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EDA helps us notice useful patterns, differences, and questions that may need more testing.</a:t>
            </a:r>
          </a:p>
        </p:txBody>
      </p:sp>
      <p:sp>
        <p:nvSpPr>
          <p:cNvPr id="13" name="text">
            <a:extLst>
              <a:ext uri="{FF2B5EF4-FFF2-40B4-BE49-F238E27FC236}">
                <a16:creationId xmlns:a16="http://schemas.microsoft.com/office/drawing/2014/main" id="{EFD0B159-10BE-41FA-86E4-4E4F7C1F7629}"/>
              </a:ext>
            </a:extLst>
          </p:cNvPr>
          <p:cNvSpPr>
            <a:spLocks noGrp="1"/>
          </p:cNvSpPr>
          <p:nvPr/>
        </p:nvSpPr>
        <p:spPr>
          <a:xfrm>
            <a:off x="781050" y="51054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Keep the result in context</a:t>
            </a:r>
          </a:p>
        </p:txBody>
      </p:sp>
      <p:sp>
        <p:nvSpPr>
          <p:cNvPr id="14" name="text">
            <a:extLst>
              <a:ext uri="{FF2B5EF4-FFF2-40B4-BE49-F238E27FC236}">
                <a16:creationId xmlns:a16="http://schemas.microsoft.com/office/drawing/2014/main" id="{354ED4A3-F2DE-40CD-B6E3-3692B9A862B7}"/>
              </a:ext>
            </a:extLst>
          </p:cNvPr>
          <p:cNvSpPr>
            <a:spLocks noGrp="1"/>
          </p:cNvSpPr>
          <p:nvPr/>
        </p:nvSpPr>
        <p:spPr>
          <a:xfrm>
            <a:off x="781050" y="5467350"/>
            <a:ext cx="10477500" cy="4953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A pattern in this dataset does not prove that one feature caused another.</a:t>
            </a:r>
          </a:p>
        </p:txBody>
      </p:sp>
    </p:spTree>
    <p:extLst>
      <p:ext uri="{BB962C8B-B14F-4D97-AF65-F5344CB8AC3E}">
        <p14:creationId xmlns:p14="http://schemas.microsoft.com/office/powerpoint/2010/main" val="48913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2AA91F4-5B7F-4C77-8D73-B5B5EEC8B4B5}"/>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B1990F3D-A05A-404A-BCA9-3F066DE13EE6}"/>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a:t>
            </a:r>
          </a:p>
        </p:txBody>
      </p:sp>
      <p:sp>
        <p:nvSpPr>
          <p:cNvPr id="3" name="text">
            <a:extLst>
              <a:ext uri="{FF2B5EF4-FFF2-40B4-BE49-F238E27FC236}">
                <a16:creationId xmlns:a16="http://schemas.microsoft.com/office/drawing/2014/main" id="{3023D238-B6CE-4288-995F-C57B951F9018}"/>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Review key performance measures</a:t>
            </a:r>
          </a:p>
        </p:txBody>
      </p:sp>
      <p:sp>
        <p:nvSpPr>
          <p:cNvPr id="4" name="accent-line">
            <a:extLst>
              <a:ext uri="{FF2B5EF4-FFF2-40B4-BE49-F238E27FC236}">
                <a16:creationId xmlns:a16="http://schemas.microsoft.com/office/drawing/2014/main" id="{3C83BCC2-8EFB-4EAC-816C-4B39EE1F40E1}"/>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1631FBA8-8EA7-4564-8790-EFBA37AE8A34}"/>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24DA6DB8-2E26-488D-BDA2-04FDB704E43B}"/>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14</a:t>
            </a:r>
          </a:p>
        </p:txBody>
      </p:sp>
      <p:sp>
        <p:nvSpPr>
          <p:cNvPr id="7" name="text">
            <a:extLst>
              <a:ext uri="{FF2B5EF4-FFF2-40B4-BE49-F238E27FC236}">
                <a16:creationId xmlns:a16="http://schemas.microsoft.com/office/drawing/2014/main" id="{2D580786-B98C-4EFF-A666-B96C40F94A84}"/>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is a key performance measure?</a:t>
            </a:r>
          </a:p>
        </p:txBody>
      </p:sp>
      <p:sp>
        <p:nvSpPr>
          <p:cNvPr id="8" name="text">
            <a:extLst>
              <a:ext uri="{FF2B5EF4-FFF2-40B4-BE49-F238E27FC236}">
                <a16:creationId xmlns:a16="http://schemas.microsoft.com/office/drawing/2014/main" id="{35241C0E-4C9C-4CDC-B7B6-181CF9558E5F}"/>
              </a:ext>
            </a:extLst>
          </p:cNvPr>
          <p:cNvSpPr>
            <a:spLocks noGrp="1"/>
          </p:cNvSpPr>
          <p:nvPr/>
        </p:nvSpPr>
        <p:spPr>
          <a:xfrm>
            <a:off x="781050" y="1943100"/>
            <a:ext cx="10477500" cy="54292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It is an important result we want to measure for each post.</a:t>
            </a:r>
          </a:p>
        </p:txBody>
      </p:sp>
      <p:sp>
        <p:nvSpPr>
          <p:cNvPr id="9" name="text">
            <a:extLst>
              <a:ext uri="{FF2B5EF4-FFF2-40B4-BE49-F238E27FC236}">
                <a16:creationId xmlns:a16="http://schemas.microsoft.com/office/drawing/2014/main" id="{BD755127-08EA-4397-8686-05DE99577057}"/>
              </a:ext>
            </a:extLst>
          </p:cNvPr>
          <p:cNvSpPr>
            <a:spLocks noGrp="1"/>
          </p:cNvSpPr>
          <p:nvPr/>
        </p:nvSpPr>
        <p:spPr>
          <a:xfrm>
            <a:off x="781050" y="26289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People’s interactions</a:t>
            </a:r>
          </a:p>
        </p:txBody>
      </p:sp>
      <p:sp>
        <p:nvSpPr>
          <p:cNvPr id="10" name="text">
            <a:extLst>
              <a:ext uri="{FF2B5EF4-FFF2-40B4-BE49-F238E27FC236}">
                <a16:creationId xmlns:a16="http://schemas.microsoft.com/office/drawing/2014/main" id="{8CB97B9C-9F2D-4F0C-8339-CFEF2DF76258}"/>
              </a:ext>
            </a:extLst>
          </p:cNvPr>
          <p:cNvSpPr>
            <a:spLocks noGrp="1"/>
          </p:cNvSpPr>
          <p:nvPr/>
        </p:nvSpPr>
        <p:spPr>
          <a:xfrm>
            <a:off x="781050" y="2990850"/>
            <a:ext cx="10477500" cy="58102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Likes, comments, shares, and saves show different ways people responded to a post.</a:t>
            </a:r>
          </a:p>
        </p:txBody>
      </p:sp>
      <p:sp>
        <p:nvSpPr>
          <p:cNvPr id="11" name="text">
            <a:extLst>
              <a:ext uri="{FF2B5EF4-FFF2-40B4-BE49-F238E27FC236}">
                <a16:creationId xmlns:a16="http://schemas.microsoft.com/office/drawing/2014/main" id="{6507BFBF-1F62-4687-AF2A-DF34970B03D1}"/>
              </a:ext>
            </a:extLst>
          </p:cNvPr>
          <p:cNvSpPr>
            <a:spLocks noGrp="1"/>
          </p:cNvSpPr>
          <p:nvPr/>
        </p:nvSpPr>
        <p:spPr>
          <a:xfrm>
            <a:off x="781050" y="37147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Audience and exposure</a:t>
            </a:r>
          </a:p>
        </p:txBody>
      </p:sp>
      <p:sp>
        <p:nvSpPr>
          <p:cNvPr id="12" name="text">
            <a:extLst>
              <a:ext uri="{FF2B5EF4-FFF2-40B4-BE49-F238E27FC236}">
                <a16:creationId xmlns:a16="http://schemas.microsoft.com/office/drawing/2014/main" id="{2E15E87F-F714-4757-A6BF-0BE8B8951642}"/>
              </a:ext>
            </a:extLst>
          </p:cNvPr>
          <p:cNvSpPr>
            <a:spLocks noGrp="1"/>
          </p:cNvSpPr>
          <p:nvPr/>
        </p:nvSpPr>
        <p:spPr>
          <a:xfrm>
            <a:off x="781050" y="4076700"/>
            <a:ext cx="10477500" cy="6477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Reach counts accounts reached. Impressions count times content was shown. Followers gained counts new followers.</a:t>
            </a:r>
          </a:p>
        </p:txBody>
      </p:sp>
      <p:sp>
        <p:nvSpPr>
          <p:cNvPr id="13" name="text">
            <a:extLst>
              <a:ext uri="{FF2B5EF4-FFF2-40B4-BE49-F238E27FC236}">
                <a16:creationId xmlns:a16="http://schemas.microsoft.com/office/drawing/2014/main" id="{C8C65F92-4011-492A-8D8F-0442E7E3827D}"/>
              </a:ext>
            </a:extLst>
          </p:cNvPr>
          <p:cNvSpPr>
            <a:spLocks noGrp="1"/>
          </p:cNvSpPr>
          <p:nvPr/>
        </p:nvSpPr>
        <p:spPr>
          <a:xfrm>
            <a:off x="781050" y="486727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Engagement rate</a:t>
            </a:r>
          </a:p>
        </p:txBody>
      </p:sp>
      <p:sp>
        <p:nvSpPr>
          <p:cNvPr id="14" name="text">
            <a:extLst>
              <a:ext uri="{FF2B5EF4-FFF2-40B4-BE49-F238E27FC236}">
                <a16:creationId xmlns:a16="http://schemas.microsoft.com/office/drawing/2014/main" id="{8B9E7C0F-9ADA-4651-87B5-A8DCBABACF64}"/>
              </a:ext>
            </a:extLst>
          </p:cNvPr>
          <p:cNvSpPr>
            <a:spLocks noGrp="1"/>
          </p:cNvSpPr>
          <p:nvPr/>
        </p:nvSpPr>
        <p:spPr>
          <a:xfrm>
            <a:off x="781050" y="5229225"/>
            <a:ext cx="10477500" cy="6667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A rate that describes interaction compared with the audience size. In the notebook, 0.0421 is about 4.21%.</a:t>
            </a:r>
          </a:p>
        </p:txBody>
      </p:sp>
    </p:spTree>
    <p:extLst>
      <p:ext uri="{BB962C8B-B14F-4D97-AF65-F5344CB8AC3E}">
        <p14:creationId xmlns:p14="http://schemas.microsoft.com/office/powerpoint/2010/main" val="817393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51F1C2E-79C5-42C4-9178-DE99D2C5810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11D609DE-8849-45E4-B067-10144F39D030}"/>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METHODS</a:t>
            </a:r>
          </a:p>
        </p:txBody>
      </p:sp>
      <p:sp>
        <p:nvSpPr>
          <p:cNvPr id="3" name="text">
            <a:extLst>
              <a:ext uri="{FF2B5EF4-FFF2-40B4-BE49-F238E27FC236}">
                <a16:creationId xmlns:a16="http://schemas.microsoft.com/office/drawing/2014/main" id="{A447591F-9B48-44C3-95BD-028D42C46028}"/>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Three ways to explore data</a:t>
            </a:r>
          </a:p>
        </p:txBody>
      </p:sp>
      <p:sp>
        <p:nvSpPr>
          <p:cNvPr id="4" name="accent-line">
            <a:extLst>
              <a:ext uri="{FF2B5EF4-FFF2-40B4-BE49-F238E27FC236}">
                <a16:creationId xmlns:a16="http://schemas.microsoft.com/office/drawing/2014/main" id="{59739224-658E-4AC9-BB9B-5D561AA00E78}"/>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BC3D5A90-3DA4-4C38-977B-C5A61FB95877}"/>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7FC78F03-FC0B-4154-97A2-02035265DAE0}"/>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15</a:t>
            </a:r>
          </a:p>
        </p:txBody>
      </p:sp>
      <p:sp>
        <p:nvSpPr>
          <p:cNvPr id="7" name="text">
            <a:extLst>
              <a:ext uri="{FF2B5EF4-FFF2-40B4-BE49-F238E27FC236}">
                <a16:creationId xmlns:a16="http://schemas.microsoft.com/office/drawing/2014/main" id="{3A0041EB-97A5-4AA8-9B6C-9E2ACE9AED17}"/>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Univariate means one variable</a:t>
            </a:r>
          </a:p>
        </p:txBody>
      </p:sp>
      <p:sp>
        <p:nvSpPr>
          <p:cNvPr id="8" name="text">
            <a:extLst>
              <a:ext uri="{FF2B5EF4-FFF2-40B4-BE49-F238E27FC236}">
                <a16:creationId xmlns:a16="http://schemas.microsoft.com/office/drawing/2014/main" id="{A0AB503D-D45C-40D9-BC6B-7CD7D0D44FD8}"/>
              </a:ext>
            </a:extLst>
          </p:cNvPr>
          <p:cNvSpPr>
            <a:spLocks noGrp="1"/>
          </p:cNvSpPr>
          <p:nvPr/>
        </p:nvSpPr>
        <p:spPr>
          <a:xfrm>
            <a:off x="781050" y="1943100"/>
            <a:ext cx="10477500" cy="63817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study one column at a time. Example: how total interactions are spread across all posts.</a:t>
            </a:r>
          </a:p>
        </p:txBody>
      </p:sp>
      <p:sp>
        <p:nvSpPr>
          <p:cNvPr id="9" name="text">
            <a:extLst>
              <a:ext uri="{FF2B5EF4-FFF2-40B4-BE49-F238E27FC236}">
                <a16:creationId xmlns:a16="http://schemas.microsoft.com/office/drawing/2014/main" id="{502C16E3-B17A-4A2E-9C58-331DD67231D7}"/>
              </a:ext>
            </a:extLst>
          </p:cNvPr>
          <p:cNvSpPr>
            <a:spLocks noGrp="1"/>
          </p:cNvSpPr>
          <p:nvPr/>
        </p:nvSpPr>
        <p:spPr>
          <a:xfrm>
            <a:off x="781050" y="2724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Bivariate means two variables</a:t>
            </a:r>
          </a:p>
        </p:txBody>
      </p:sp>
      <p:sp>
        <p:nvSpPr>
          <p:cNvPr id="10" name="text">
            <a:extLst>
              <a:ext uri="{FF2B5EF4-FFF2-40B4-BE49-F238E27FC236}">
                <a16:creationId xmlns:a16="http://schemas.microsoft.com/office/drawing/2014/main" id="{E3340600-18DD-478A-9E72-EABBCB7FDA6B}"/>
              </a:ext>
            </a:extLst>
          </p:cNvPr>
          <p:cNvSpPr>
            <a:spLocks noGrp="1"/>
          </p:cNvSpPr>
          <p:nvPr/>
        </p:nvSpPr>
        <p:spPr>
          <a:xfrm>
            <a:off x="781050" y="3086100"/>
            <a:ext cx="10477500" cy="63817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compare two things. Example: average interactions by media type, or caption length and total interactions.</a:t>
            </a:r>
          </a:p>
        </p:txBody>
      </p:sp>
      <p:sp>
        <p:nvSpPr>
          <p:cNvPr id="11" name="text">
            <a:extLst>
              <a:ext uri="{FF2B5EF4-FFF2-40B4-BE49-F238E27FC236}">
                <a16:creationId xmlns:a16="http://schemas.microsoft.com/office/drawing/2014/main" id="{648724FF-6287-4368-9FEF-683CD742DE44}"/>
              </a:ext>
            </a:extLst>
          </p:cNvPr>
          <p:cNvSpPr>
            <a:spLocks noGrp="1"/>
          </p:cNvSpPr>
          <p:nvPr/>
        </p:nvSpPr>
        <p:spPr>
          <a:xfrm>
            <a:off x="781050" y="3867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Multivariate means three or more variables</a:t>
            </a:r>
          </a:p>
        </p:txBody>
      </p:sp>
      <p:sp>
        <p:nvSpPr>
          <p:cNvPr id="12" name="text">
            <a:extLst>
              <a:ext uri="{FF2B5EF4-FFF2-40B4-BE49-F238E27FC236}">
                <a16:creationId xmlns:a16="http://schemas.microsoft.com/office/drawing/2014/main" id="{60268964-6A57-4C3E-9B43-DC7458DD6770}"/>
              </a:ext>
            </a:extLst>
          </p:cNvPr>
          <p:cNvSpPr>
            <a:spLocks noGrp="1"/>
          </p:cNvSpPr>
          <p:nvPr/>
        </p:nvSpPr>
        <p:spPr>
          <a:xfrm>
            <a:off x="781050" y="4229100"/>
            <a:ext cx="10477500" cy="69532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 look at several things together. Example: account type, media type, and average interactions in one heatmap.</a:t>
            </a:r>
          </a:p>
        </p:txBody>
      </p:sp>
      <p:sp>
        <p:nvSpPr>
          <p:cNvPr id="13" name="text">
            <a:extLst>
              <a:ext uri="{FF2B5EF4-FFF2-40B4-BE49-F238E27FC236}">
                <a16:creationId xmlns:a16="http://schemas.microsoft.com/office/drawing/2014/main" id="{F0E49421-A7EC-4345-AEC7-0FD003533C44}"/>
              </a:ext>
            </a:extLst>
          </p:cNvPr>
          <p:cNvSpPr>
            <a:spLocks noGrp="1"/>
          </p:cNvSpPr>
          <p:nvPr/>
        </p:nvSpPr>
        <p:spPr>
          <a:xfrm>
            <a:off x="781050" y="50673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The charts that follow</a:t>
            </a:r>
          </a:p>
        </p:txBody>
      </p:sp>
      <p:sp>
        <p:nvSpPr>
          <p:cNvPr id="14" name="text">
            <a:extLst>
              <a:ext uri="{FF2B5EF4-FFF2-40B4-BE49-F238E27FC236}">
                <a16:creationId xmlns:a16="http://schemas.microsoft.com/office/drawing/2014/main" id="{EB736D33-E05D-4457-9206-37DBE49222C1}"/>
              </a:ext>
            </a:extLst>
          </p:cNvPr>
          <p:cNvSpPr>
            <a:spLocks noGrp="1"/>
          </p:cNvSpPr>
          <p:nvPr/>
        </p:nvSpPr>
        <p:spPr>
          <a:xfrm>
            <a:off x="781050" y="5429250"/>
            <a:ext cx="10477500" cy="50482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Each chart asks a question and gives one view of the dataset.</a:t>
            </a:r>
          </a:p>
        </p:txBody>
      </p:sp>
    </p:spTree>
    <p:extLst>
      <p:ext uri="{BB962C8B-B14F-4D97-AF65-F5344CB8AC3E}">
        <p14:creationId xmlns:p14="http://schemas.microsoft.com/office/powerpoint/2010/main" val="1606699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EE3BD67-EE90-4370-898C-30242170FEE0}"/>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B60E3996-167B-4834-A648-91BD5C674001}"/>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VISUALIZATIONS</a:t>
            </a:r>
          </a:p>
        </p:txBody>
      </p:sp>
      <p:sp>
        <p:nvSpPr>
          <p:cNvPr id="3" name="text">
            <a:extLst>
              <a:ext uri="{FF2B5EF4-FFF2-40B4-BE49-F238E27FC236}">
                <a16:creationId xmlns:a16="http://schemas.microsoft.com/office/drawing/2014/main" id="{88D6C987-9479-4E69-A5BA-EA23D4B133BA}"/>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Step 4  Visualizations</a:t>
            </a:r>
          </a:p>
        </p:txBody>
      </p:sp>
      <p:sp>
        <p:nvSpPr>
          <p:cNvPr id="4" name="accent-line">
            <a:extLst>
              <a:ext uri="{FF2B5EF4-FFF2-40B4-BE49-F238E27FC236}">
                <a16:creationId xmlns:a16="http://schemas.microsoft.com/office/drawing/2014/main" id="{A3454631-AF39-46C7-AAB7-F0CEA4FA5549}"/>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9FD8A20B-6860-4EE8-B596-3CEB73B77218}"/>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383EC36C-266F-4A8F-A643-2280F8225399}"/>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16</a:t>
            </a:r>
          </a:p>
        </p:txBody>
      </p:sp>
      <p:sp>
        <p:nvSpPr>
          <p:cNvPr id="7" name="text">
            <a:extLst>
              <a:ext uri="{FF2B5EF4-FFF2-40B4-BE49-F238E27FC236}">
                <a16:creationId xmlns:a16="http://schemas.microsoft.com/office/drawing/2014/main" id="{A1FC3D2C-DE89-4771-B190-5205E4618D0C}"/>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Why make charts?</a:t>
            </a:r>
          </a:p>
        </p:txBody>
      </p:sp>
      <p:sp>
        <p:nvSpPr>
          <p:cNvPr id="8" name="text">
            <a:extLst>
              <a:ext uri="{FF2B5EF4-FFF2-40B4-BE49-F238E27FC236}">
                <a16:creationId xmlns:a16="http://schemas.microsoft.com/office/drawing/2014/main" id="{03F4D4BC-9CE8-4EBD-B214-B0AF886ADA90}"/>
              </a:ext>
            </a:extLst>
          </p:cNvPr>
          <p:cNvSpPr>
            <a:spLocks noGrp="1"/>
          </p:cNvSpPr>
          <p:nvPr/>
        </p:nvSpPr>
        <p:spPr>
          <a:xfrm>
            <a:off x="781050" y="1943100"/>
            <a:ext cx="10477500" cy="5524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Charts help people see patterns that may be hard to notice in a long table of numbers. I used Matplotlib and Plotly in Python.</a:t>
            </a:r>
          </a:p>
        </p:txBody>
      </p:sp>
      <p:sp>
        <p:nvSpPr>
          <p:cNvPr id="9" name="text">
            <a:extLst>
              <a:ext uri="{FF2B5EF4-FFF2-40B4-BE49-F238E27FC236}">
                <a16:creationId xmlns:a16="http://schemas.microsoft.com/office/drawing/2014/main" id="{33B93146-F221-4CB7-9BE4-C411CFF0E4EA}"/>
              </a:ext>
            </a:extLst>
          </p:cNvPr>
          <p:cNvSpPr>
            <a:spLocks noGrp="1"/>
          </p:cNvSpPr>
          <p:nvPr/>
        </p:nvSpPr>
        <p:spPr>
          <a:xfrm>
            <a:off x="781050" y="26384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these visuals cover</a:t>
            </a:r>
          </a:p>
        </p:txBody>
      </p:sp>
      <p:sp>
        <p:nvSpPr>
          <p:cNvPr id="10" name="text">
            <a:extLst>
              <a:ext uri="{FF2B5EF4-FFF2-40B4-BE49-F238E27FC236}">
                <a16:creationId xmlns:a16="http://schemas.microsoft.com/office/drawing/2014/main" id="{F5E62D3C-7AFD-4E2B-8A4F-50F6F96E7FA3}"/>
              </a:ext>
            </a:extLst>
          </p:cNvPr>
          <p:cNvSpPr>
            <a:spLocks noGrp="1"/>
          </p:cNvSpPr>
          <p:nvPr/>
        </p:nvSpPr>
        <p:spPr>
          <a:xfrm>
            <a:off x="781050" y="3000375"/>
            <a:ext cx="10477500" cy="6286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Distributions, group comparisons, relationships between measures, and changes over time.</a:t>
            </a:r>
          </a:p>
        </p:txBody>
      </p:sp>
      <p:sp>
        <p:nvSpPr>
          <p:cNvPr id="11" name="text">
            <a:extLst>
              <a:ext uri="{FF2B5EF4-FFF2-40B4-BE49-F238E27FC236}">
                <a16:creationId xmlns:a16="http://schemas.microsoft.com/office/drawing/2014/main" id="{EF4E5650-257F-41A0-B013-7E0D2FBE2679}"/>
              </a:ext>
            </a:extLst>
          </p:cNvPr>
          <p:cNvSpPr>
            <a:spLocks noGrp="1"/>
          </p:cNvSpPr>
          <p:nvPr/>
        </p:nvSpPr>
        <p:spPr>
          <a:xfrm>
            <a:off x="781050" y="37719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How to read them</a:t>
            </a:r>
          </a:p>
        </p:txBody>
      </p:sp>
      <p:sp>
        <p:nvSpPr>
          <p:cNvPr id="12" name="text">
            <a:extLst>
              <a:ext uri="{FF2B5EF4-FFF2-40B4-BE49-F238E27FC236}">
                <a16:creationId xmlns:a16="http://schemas.microsoft.com/office/drawing/2014/main" id="{607ABFAD-9E7E-4C15-8392-500451C32A02}"/>
              </a:ext>
            </a:extLst>
          </p:cNvPr>
          <p:cNvSpPr>
            <a:spLocks noGrp="1"/>
          </p:cNvSpPr>
          <p:nvPr/>
        </p:nvSpPr>
        <p:spPr>
          <a:xfrm>
            <a:off x="781050" y="4133850"/>
            <a:ext cx="10477500" cy="6286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Check the title, labels, units, and legend. Then describe only what the chart supports.</a:t>
            </a:r>
          </a:p>
        </p:txBody>
      </p:sp>
      <p:sp>
        <p:nvSpPr>
          <p:cNvPr id="13" name="text">
            <a:extLst>
              <a:ext uri="{FF2B5EF4-FFF2-40B4-BE49-F238E27FC236}">
                <a16:creationId xmlns:a16="http://schemas.microsoft.com/office/drawing/2014/main" id="{F7927899-4BE3-4D6D-A83F-9447A51FB4DB}"/>
              </a:ext>
            </a:extLst>
          </p:cNvPr>
          <p:cNvSpPr>
            <a:spLocks noGrp="1"/>
          </p:cNvSpPr>
          <p:nvPr/>
        </p:nvSpPr>
        <p:spPr>
          <a:xfrm>
            <a:off x="781050" y="490537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Notebook count</a:t>
            </a:r>
          </a:p>
        </p:txBody>
      </p:sp>
      <p:sp>
        <p:nvSpPr>
          <p:cNvPr id="14" name="text">
            <a:extLst>
              <a:ext uri="{FF2B5EF4-FFF2-40B4-BE49-F238E27FC236}">
                <a16:creationId xmlns:a16="http://schemas.microsoft.com/office/drawing/2014/main" id="{4AC5139E-740F-438F-AAD9-CD70BACED59D}"/>
              </a:ext>
            </a:extLst>
          </p:cNvPr>
          <p:cNvSpPr>
            <a:spLocks noGrp="1"/>
          </p:cNvSpPr>
          <p:nvPr/>
        </p:nvSpPr>
        <p:spPr>
          <a:xfrm>
            <a:off x="781050" y="5267325"/>
            <a:ext cx="10477500" cy="5334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16 chart figures, including one four-panel figure. That gives 19 individual chart panels.</a:t>
            </a:r>
          </a:p>
        </p:txBody>
      </p:sp>
    </p:spTree>
    <p:extLst>
      <p:ext uri="{BB962C8B-B14F-4D97-AF65-F5344CB8AC3E}">
        <p14:creationId xmlns:p14="http://schemas.microsoft.com/office/powerpoint/2010/main" val="264464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39DBD5C-F88D-495D-8E0F-A80A0A55AB32}"/>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46B90BCF-12B8-4159-822B-6DE431E8B24C}"/>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9821318D-F8E5-4AE8-8C03-DBA6C4F47428}"/>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dirty="0">
                <a:solidFill>
                  <a:srgbClr val="23223E"/>
                </a:solidFill>
                <a:latin typeface="Arial"/>
                <a:ea typeface="Arial"/>
                <a:cs typeface="Arial"/>
              </a:rPr>
              <a:t>Plot 1 of 16 </a:t>
            </a:r>
            <a:r>
              <a:rPr lang="en-IN" sz="2550" b="1" dirty="0">
                <a:solidFill>
                  <a:srgbClr val="23223E"/>
                </a:solidFill>
                <a:latin typeface="Arial"/>
                <a:ea typeface="Arial"/>
                <a:cs typeface="Arial"/>
              </a:rPr>
              <a:t>– </a:t>
            </a:r>
            <a:r>
              <a:rPr lang="en-US" sz="2550" b="1" dirty="0">
                <a:solidFill>
                  <a:srgbClr val="23223E"/>
                </a:solidFill>
                <a:latin typeface="Arial"/>
                <a:ea typeface="Arial"/>
                <a:cs typeface="Arial"/>
              </a:rPr>
              <a:t>univariate Analysis-</a:t>
            </a:r>
            <a:r>
              <a:rPr sz="2550" b="1" dirty="0">
                <a:solidFill>
                  <a:srgbClr val="23223E"/>
                </a:solidFill>
                <a:latin typeface="Arial"/>
                <a:ea typeface="Arial"/>
                <a:cs typeface="Arial"/>
              </a:rPr>
              <a:t> Distribution of total interactions</a:t>
            </a:r>
          </a:p>
        </p:txBody>
      </p:sp>
      <p:sp>
        <p:nvSpPr>
          <p:cNvPr id="76"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HISTOGRAM</a:t>
            </a:r>
          </a:p>
        </p:txBody>
      </p:sp>
      <p:sp>
        <p:nvSpPr>
          <p:cNvPr id="4" name="accent-line">
            <a:extLst>
              <a:ext uri="{FF2B5EF4-FFF2-40B4-BE49-F238E27FC236}">
                <a16:creationId xmlns:a16="http://schemas.microsoft.com/office/drawing/2014/main" id="{B0A73AAC-B91C-45BB-B7BD-4B6566CC964F}"/>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20B70F2A-9CAA-459B-AC97-A4B0C5A660EC}"/>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465AC5CF-0218-48E8-A522-38495BE5E72C}"/>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17</a:t>
            </a:r>
          </a:p>
        </p:txBody>
      </p:sp>
      <p:pic>
        <p:nvPicPr>
          <p:cNvPr id="7" name="Picture 6">
            <a:extLst>
              <a:ext uri="{FF2B5EF4-FFF2-40B4-BE49-F238E27FC236}">
                <a16:creationId xmlns:a16="http://schemas.microsoft.com/office/drawing/2014/main" id="{DBBDFF84-915B-45F7-8455-2BE91E006D0E}"/>
              </a:ext>
            </a:extLst>
          </p:cNvPr>
          <p:cNvPicPr>
            <a:picLocks noChangeAspect="1"/>
          </p:cNvPicPr>
          <p:nvPr/>
        </p:nvPicPr>
        <p:blipFill>
          <a:blip r:embed="rId4"/>
          <a:stretch/>
        </p:blipFill>
        <p:spPr>
          <a:xfrm>
            <a:off x="571500" y="1824750"/>
            <a:ext cx="6858000" cy="3780000"/>
          </a:xfrm>
          <a:prstGeom prst="rect">
            <a:avLst/>
          </a:prstGeom>
        </p:spPr>
      </p:pic>
      <p:sp>
        <p:nvSpPr>
          <p:cNvPr id="8" name="text">
            <a:extLst>
              <a:ext uri="{FF2B5EF4-FFF2-40B4-BE49-F238E27FC236}">
                <a16:creationId xmlns:a16="http://schemas.microsoft.com/office/drawing/2014/main" id="{80173346-A29F-4A63-8150-3BF22AC0A22B}"/>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DBF2EA52-8D28-43A3-9004-69D5ECB7A556}"/>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A histogram groups posts into ranges of total interactions. The bars show how many posts fall in each range.</a:t>
            </a:r>
          </a:p>
        </p:txBody>
      </p:sp>
      <p:sp>
        <p:nvSpPr>
          <p:cNvPr id="10" name="text">
            <a:extLst>
              <a:ext uri="{FF2B5EF4-FFF2-40B4-BE49-F238E27FC236}">
                <a16:creationId xmlns:a16="http://schemas.microsoft.com/office/drawing/2014/main" id="{590E04A4-CEF5-417B-B0C3-9E80C1CE9F34}"/>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503E9A4F-74DC-456F-8695-760315C28BAE}"/>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Most posts sit in the lower interaction ranges. A smaller number of posts have much higher totals.</a:t>
            </a:r>
          </a:p>
        </p:txBody>
      </p:sp>
      <p:sp>
        <p:nvSpPr>
          <p:cNvPr id="12" name="text">
            <a:extLst>
              <a:ext uri="{FF2B5EF4-FFF2-40B4-BE49-F238E27FC236}">
                <a16:creationId xmlns:a16="http://schemas.microsoft.com/office/drawing/2014/main" id="{29BD6FBF-1A36-4382-A594-FF6671C69BE9}"/>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08C11FE9-19BC-4208-9E47-D123B85E3805}"/>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A few high-interaction posts create a long upper tail.</a:t>
            </a:r>
          </a:p>
        </p:txBody>
      </p:sp>
    </p:spTree>
    <p:extLst>
      <p:ext uri="{BB962C8B-B14F-4D97-AF65-F5344CB8AC3E}">
        <p14:creationId xmlns:p14="http://schemas.microsoft.com/office/powerpoint/2010/main" val="827082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853073C-572B-4630-841E-9319E4E81495}"/>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FED7E4A6-4E98-481D-9AB1-46601F288BCC}"/>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DC95EDC5-9179-458C-8002-63905608CC03}"/>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fontScale="92500"/>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dirty="0">
                <a:solidFill>
                  <a:srgbClr val="23223E"/>
                </a:solidFill>
                <a:latin typeface="Arial"/>
                <a:ea typeface="Arial"/>
                <a:cs typeface="Arial"/>
              </a:rPr>
              <a:t>Plot 2 of 16 </a:t>
            </a:r>
            <a:r>
              <a:rPr lang="en-IN" sz="2550" b="1" dirty="0">
                <a:solidFill>
                  <a:srgbClr val="23223E"/>
                </a:solidFill>
                <a:latin typeface="Arial"/>
                <a:ea typeface="Arial"/>
                <a:cs typeface="Arial"/>
              </a:rPr>
              <a:t>–</a:t>
            </a:r>
            <a:r>
              <a:rPr lang="en-US" sz="2550" b="1" dirty="0">
                <a:solidFill>
                  <a:srgbClr val="23223E"/>
                </a:solidFill>
                <a:latin typeface="Arial"/>
                <a:ea typeface="Arial"/>
                <a:cs typeface="Arial"/>
              </a:rPr>
              <a:t>Bivariate Analysis-</a:t>
            </a:r>
            <a:r>
              <a:rPr sz="2550" b="1" dirty="0">
                <a:solidFill>
                  <a:srgbClr val="23223E"/>
                </a:solidFill>
                <a:latin typeface="Arial"/>
                <a:ea typeface="Arial"/>
                <a:cs typeface="Arial"/>
              </a:rPr>
              <a:t> Average </a:t>
            </a:r>
            <a:r>
              <a:rPr lang="en-US" sz="2550" b="1" dirty="0">
                <a:solidFill>
                  <a:srgbClr val="23223E"/>
                </a:solidFill>
                <a:latin typeface="Arial"/>
                <a:ea typeface="Arial"/>
                <a:cs typeface="Arial"/>
              </a:rPr>
              <a:t>total </a:t>
            </a:r>
            <a:r>
              <a:rPr sz="2550" b="1" dirty="0">
                <a:solidFill>
                  <a:srgbClr val="23223E"/>
                </a:solidFill>
                <a:latin typeface="Arial"/>
                <a:ea typeface="Arial"/>
                <a:cs typeface="Arial"/>
              </a:rPr>
              <a:t>interactions by media type</a:t>
            </a:r>
          </a:p>
        </p:txBody>
      </p:sp>
      <p:sp>
        <p:nvSpPr>
          <p:cNvPr id="77" name="Chart type"/>
          <p:cNvSpPr txBox="1"/>
          <p:nvPr/>
        </p:nvSpPr>
        <p:spPr>
          <a:xfrm>
            <a:off x="723900" y="110527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BAR CHART</a:t>
            </a:r>
          </a:p>
        </p:txBody>
      </p:sp>
      <p:sp>
        <p:nvSpPr>
          <p:cNvPr id="4" name="accent-line">
            <a:extLst>
              <a:ext uri="{FF2B5EF4-FFF2-40B4-BE49-F238E27FC236}">
                <a16:creationId xmlns:a16="http://schemas.microsoft.com/office/drawing/2014/main" id="{ABDD7891-FF36-4424-98BB-B364DA49A99A}"/>
              </a:ext>
            </a:extLst>
          </p:cNvPr>
          <p:cNvSpPr>
            <a:spLocks noGrp="1"/>
          </p:cNvSpPr>
          <p:nvPr/>
        </p:nvSpPr>
        <p:spPr>
          <a:xfrm>
            <a:off x="723900" y="1335000"/>
            <a:ext cx="685800" cy="45719"/>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C92229B1-8BFE-4EE4-A767-258C733B3E7A}"/>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97A7C0C0-74D2-4CA1-A596-A87D346F50FD}"/>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18</a:t>
            </a:r>
          </a:p>
        </p:txBody>
      </p:sp>
      <p:pic>
        <p:nvPicPr>
          <p:cNvPr id="7" name="Picture 6">
            <a:extLst>
              <a:ext uri="{FF2B5EF4-FFF2-40B4-BE49-F238E27FC236}">
                <a16:creationId xmlns:a16="http://schemas.microsoft.com/office/drawing/2014/main" id="{92ECE38C-BF85-4C82-A862-78E0586F4447}"/>
              </a:ext>
            </a:extLst>
          </p:cNvPr>
          <p:cNvPicPr>
            <a:picLocks noChangeAspect="1"/>
          </p:cNvPicPr>
          <p:nvPr/>
        </p:nvPicPr>
        <p:blipFill>
          <a:blip r:embed="rId4"/>
          <a:stretch/>
        </p:blipFill>
        <p:spPr>
          <a:xfrm>
            <a:off x="411330" y="1592555"/>
            <a:ext cx="7122445" cy="4417719"/>
          </a:xfrm>
          <a:prstGeom prst="rect">
            <a:avLst/>
          </a:prstGeom>
        </p:spPr>
      </p:pic>
      <p:sp>
        <p:nvSpPr>
          <p:cNvPr id="8" name="text">
            <a:extLst>
              <a:ext uri="{FF2B5EF4-FFF2-40B4-BE49-F238E27FC236}">
                <a16:creationId xmlns:a16="http://schemas.microsoft.com/office/drawing/2014/main" id="{3366A709-4AED-4CD7-B4C8-291B15F77ABE}"/>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9D94B18E-566A-4769-B42D-A0FBEAD5FCAF}"/>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This bar chart compares mean total interactions for carousel, image, and reel posts.</a:t>
            </a:r>
          </a:p>
        </p:txBody>
      </p:sp>
      <p:sp>
        <p:nvSpPr>
          <p:cNvPr id="10" name="text">
            <a:extLst>
              <a:ext uri="{FF2B5EF4-FFF2-40B4-BE49-F238E27FC236}">
                <a16:creationId xmlns:a16="http://schemas.microsoft.com/office/drawing/2014/main" id="{4F8BEBAB-1C17-4D4F-B6FF-07F9EB77F6D2}"/>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4010196F-89CD-4177-8DA5-90896F2D953E}"/>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Image posts average 355.53 interactions. Carousels average 351.86 and reels 351.06.</a:t>
            </a:r>
          </a:p>
        </p:txBody>
      </p:sp>
      <p:sp>
        <p:nvSpPr>
          <p:cNvPr id="12" name="text">
            <a:extLst>
              <a:ext uri="{FF2B5EF4-FFF2-40B4-BE49-F238E27FC236}">
                <a16:creationId xmlns:a16="http://schemas.microsoft.com/office/drawing/2014/main" id="{8C876CA2-9F8B-4CC0-AE5A-DB3107ABA457}"/>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674BB154-EB3D-42BE-BA7C-7C5EAE31D436}"/>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The averages are close. Image posts are slightly higher in this dataset.</a:t>
            </a:r>
          </a:p>
        </p:txBody>
      </p:sp>
    </p:spTree>
    <p:extLst>
      <p:ext uri="{BB962C8B-B14F-4D97-AF65-F5344CB8AC3E}">
        <p14:creationId xmlns:p14="http://schemas.microsoft.com/office/powerpoint/2010/main" val="336334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45866CD-34F8-43A3-A6ED-3429E58B933C}"/>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76228656-4171-4CF4-A761-6ED5119769EE}"/>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5ED5D5D5-5CE1-4503-8F68-B7AE74B27995}"/>
              </a:ext>
            </a:extLst>
          </p:cNvPr>
          <p:cNvSpPr>
            <a:spLocks noGrp="1"/>
          </p:cNvSpPr>
          <p:nvPr/>
        </p:nvSpPr>
        <p:spPr>
          <a:xfrm>
            <a:off x="723900" y="505102"/>
            <a:ext cx="10668000" cy="666471"/>
          </a:xfrm>
          <a:prstGeom prst="rect">
            <a:avLst/>
          </a:prstGeom>
          <a:ln/>
        </p:spPr>
        <p:style>
          <a:lnRef idx="2">
            <a:schemeClr val="accent2"/>
          </a:lnRef>
          <a:fillRef idx="1">
            <a:schemeClr val="lt1"/>
          </a:fillRef>
          <a:effectRef idx="0">
            <a:schemeClr val="accent2"/>
          </a:effectRef>
          <a:fontRef idx="minor">
            <a:schemeClr val="dk1"/>
          </a:fontRef>
        </p:style>
        <p:txBody>
          <a:bodyPr lIns="0" tIns="0" rIns="0" bIns="0" anchor="t">
            <a:normAutofit fontScale="92500" lnSpcReduction="10000"/>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dirty="0">
                <a:solidFill>
                  <a:srgbClr val="23223E"/>
                </a:solidFill>
                <a:latin typeface="Arial"/>
                <a:ea typeface="Arial"/>
                <a:cs typeface="Arial"/>
              </a:rPr>
              <a:t>Plot 3 of 16 </a:t>
            </a:r>
            <a:r>
              <a:rPr lang="en-IN" sz="2550" b="1" dirty="0">
                <a:solidFill>
                  <a:srgbClr val="23223E"/>
                </a:solidFill>
                <a:latin typeface="Arial"/>
                <a:ea typeface="Arial"/>
                <a:cs typeface="Arial"/>
              </a:rPr>
              <a:t>–</a:t>
            </a:r>
            <a:r>
              <a:rPr lang="en-US" sz="2550" b="1" dirty="0">
                <a:solidFill>
                  <a:srgbClr val="23223E"/>
                </a:solidFill>
                <a:latin typeface="Arial"/>
                <a:ea typeface="Arial"/>
                <a:cs typeface="Arial"/>
              </a:rPr>
              <a:t>Multivariate Analysis-</a:t>
            </a:r>
            <a:r>
              <a:rPr sz="2550" b="1" dirty="0">
                <a:solidFill>
                  <a:srgbClr val="23223E"/>
                </a:solidFill>
                <a:latin typeface="Arial"/>
                <a:ea typeface="Arial"/>
                <a:cs typeface="Arial"/>
              </a:rPr>
              <a:t> Account type </a:t>
            </a:r>
            <a:r>
              <a:rPr lang="en-US" sz="2550" b="1" dirty="0">
                <a:solidFill>
                  <a:srgbClr val="23223E"/>
                </a:solidFill>
                <a:latin typeface="Arial"/>
                <a:ea typeface="Arial"/>
                <a:cs typeface="Arial"/>
              </a:rPr>
              <a:t>,</a:t>
            </a:r>
            <a:r>
              <a:rPr sz="2550" b="1" dirty="0">
                <a:solidFill>
                  <a:srgbClr val="23223E"/>
                </a:solidFill>
                <a:latin typeface="Arial"/>
                <a:ea typeface="Arial"/>
                <a:cs typeface="Arial"/>
              </a:rPr>
              <a:t>media type </a:t>
            </a:r>
            <a:r>
              <a:rPr lang="en-US" sz="2550" b="1" dirty="0">
                <a:solidFill>
                  <a:srgbClr val="23223E"/>
                </a:solidFill>
                <a:latin typeface="Arial"/>
                <a:ea typeface="Arial"/>
                <a:cs typeface="Arial"/>
              </a:rPr>
              <a:t>&amp; Average Total Interactions</a:t>
            </a:r>
            <a:endParaRPr sz="2550" b="1" dirty="0">
              <a:solidFill>
                <a:srgbClr val="23223E"/>
              </a:solidFill>
              <a:latin typeface="Arial"/>
              <a:ea typeface="Arial"/>
              <a:cs typeface="Arial"/>
            </a:endParaRPr>
          </a:p>
        </p:txBody>
      </p:sp>
      <p:sp>
        <p:nvSpPr>
          <p:cNvPr id="78" name="Chart type"/>
          <p:cNvSpPr txBox="1"/>
          <p:nvPr/>
        </p:nvSpPr>
        <p:spPr>
          <a:xfrm>
            <a:off x="1066800" y="1495564"/>
            <a:ext cx="10591800" cy="552449"/>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HEATMAP (GROUPED AVERAGES)</a:t>
            </a:r>
          </a:p>
        </p:txBody>
      </p:sp>
      <p:sp>
        <p:nvSpPr>
          <p:cNvPr id="4" name="accent-line">
            <a:extLst>
              <a:ext uri="{FF2B5EF4-FFF2-40B4-BE49-F238E27FC236}">
                <a16:creationId xmlns:a16="http://schemas.microsoft.com/office/drawing/2014/main" id="{793488B4-EAC2-4C6C-9CAB-18242755558F}"/>
              </a:ext>
            </a:extLst>
          </p:cNvPr>
          <p:cNvSpPr>
            <a:spLocks noGrp="1"/>
          </p:cNvSpPr>
          <p:nvPr/>
        </p:nvSpPr>
        <p:spPr>
          <a:xfrm>
            <a:off x="1072243" y="1792844"/>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4166C6D6-C88F-42A3-A69C-6F3315FCE385}"/>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2492F56C-B47E-4C99-A055-9E1ADF05EE3C}"/>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19</a:t>
            </a:r>
          </a:p>
        </p:txBody>
      </p:sp>
      <p:pic>
        <p:nvPicPr>
          <p:cNvPr id="7" name="Picture 6">
            <a:extLst>
              <a:ext uri="{FF2B5EF4-FFF2-40B4-BE49-F238E27FC236}">
                <a16:creationId xmlns:a16="http://schemas.microsoft.com/office/drawing/2014/main" id="{E116E37E-06AA-4A23-BFB6-8254A48BB1CE}"/>
              </a:ext>
            </a:extLst>
          </p:cNvPr>
          <p:cNvPicPr>
            <a:picLocks noChangeAspect="1"/>
          </p:cNvPicPr>
          <p:nvPr/>
        </p:nvPicPr>
        <p:blipFill>
          <a:blip r:embed="rId4"/>
          <a:stretch/>
        </p:blipFill>
        <p:spPr>
          <a:xfrm>
            <a:off x="589550" y="1902372"/>
            <a:ext cx="6858000" cy="4410000"/>
          </a:xfrm>
          <a:prstGeom prst="rect">
            <a:avLst/>
          </a:prstGeom>
        </p:spPr>
      </p:pic>
      <p:sp>
        <p:nvSpPr>
          <p:cNvPr id="8" name="text">
            <a:extLst>
              <a:ext uri="{FF2B5EF4-FFF2-40B4-BE49-F238E27FC236}">
                <a16:creationId xmlns:a16="http://schemas.microsoft.com/office/drawing/2014/main" id="{17FF77F1-A4BD-462E-8E5C-4909F0F96A29}"/>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FF7ED6C9-FCB2-4522-8A6C-2ED43590C89B}"/>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fontScale="85000" lnSpcReduction="20000"/>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dirty="0">
                <a:solidFill>
                  <a:srgbClr val="34364F"/>
                </a:solidFill>
                <a:latin typeface="Arial"/>
                <a:ea typeface="Arial"/>
                <a:cs typeface="Arial"/>
              </a:rPr>
              <a:t>This heatmap compares average interactions using account type, media type, and total interactions.</a:t>
            </a:r>
            <a:endParaRPr lang="en-US" sz="1575" b="0" dirty="0">
              <a:solidFill>
                <a:srgbClr val="34364F"/>
              </a:solidFill>
              <a:latin typeface="Arial"/>
              <a:ea typeface="Arial"/>
              <a:cs typeface="Arial"/>
            </a:endParaRPr>
          </a:p>
          <a:p>
            <a:pPr algn="l">
              <a:lnSpc>
                <a:spcPct val="106000"/>
              </a:lnSpc>
              <a:buNone/>
              <a:defRPr sz="1575" b="0">
                <a:solidFill>
                  <a:srgbClr val="34364F"/>
                </a:solidFill>
                <a:latin typeface="Arial"/>
                <a:ea typeface="Arial"/>
                <a:cs typeface="Arial"/>
              </a:defRPr>
            </a:pPr>
            <a:endParaRPr lang="en-US" sz="1575" b="0" dirty="0">
              <a:solidFill>
                <a:srgbClr val="34364F"/>
              </a:solidFill>
              <a:latin typeface="Arial"/>
              <a:ea typeface="Arial"/>
              <a:cs typeface="Arial"/>
            </a:endParaRPr>
          </a:p>
          <a:p>
            <a:pPr algn="l">
              <a:lnSpc>
                <a:spcPct val="106000"/>
              </a:lnSpc>
              <a:buNone/>
              <a:defRPr sz="1575" b="0">
                <a:solidFill>
                  <a:srgbClr val="34364F"/>
                </a:solidFill>
                <a:latin typeface="Arial"/>
                <a:ea typeface="Arial"/>
                <a:cs typeface="Arial"/>
              </a:defRPr>
            </a:pPr>
            <a:r>
              <a:rPr lang="en-IN" sz="1575" dirty="0">
                <a:solidFill>
                  <a:srgbClr val="34364F"/>
                </a:solidFill>
                <a:latin typeface="Arial"/>
                <a:ea typeface="Arial"/>
                <a:cs typeface="Arial"/>
              </a:rPr>
              <a:t>A pivot table was used to calculate the average interactions for each account type &amp; media type </a:t>
            </a:r>
            <a:endParaRPr sz="1575" b="0" dirty="0">
              <a:solidFill>
                <a:srgbClr val="34364F"/>
              </a:solidFill>
              <a:latin typeface="Arial"/>
              <a:ea typeface="Arial"/>
              <a:cs typeface="Arial"/>
            </a:endParaRPr>
          </a:p>
        </p:txBody>
      </p:sp>
      <p:sp>
        <p:nvSpPr>
          <p:cNvPr id="10" name="text">
            <a:extLst>
              <a:ext uri="{FF2B5EF4-FFF2-40B4-BE49-F238E27FC236}">
                <a16:creationId xmlns:a16="http://schemas.microsoft.com/office/drawing/2014/main" id="{0F1EED18-6D6F-48BB-BCF0-1CF795185D3B}"/>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21BAC14B-FA4B-4813-B91F-6D9EE17D8B26}"/>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Brand image posts average 361.31. Creator reels average 346.84.</a:t>
            </a:r>
          </a:p>
        </p:txBody>
      </p:sp>
      <p:sp>
        <p:nvSpPr>
          <p:cNvPr id="12" name="text">
            <a:extLst>
              <a:ext uri="{FF2B5EF4-FFF2-40B4-BE49-F238E27FC236}">
                <a16:creationId xmlns:a16="http://schemas.microsoft.com/office/drawing/2014/main" id="{B2599FD1-CA3E-41D9-880A-BBAC6371568F}"/>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DEDC0278-A329-4AA6-A32E-89B76FA8CBE6}"/>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The highest and lowest group averages differ by about 14 interactions.</a:t>
            </a:r>
          </a:p>
        </p:txBody>
      </p:sp>
    </p:spTree>
    <p:extLst>
      <p:ext uri="{BB962C8B-B14F-4D97-AF65-F5344CB8AC3E}">
        <p14:creationId xmlns:p14="http://schemas.microsoft.com/office/powerpoint/2010/main" val="1671381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66ABE6D-AA4A-48EE-B25B-4F38DFD60DB2}"/>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DB587BCA-828D-408C-8A08-78D03383535F}"/>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9D6A73ED-0F0D-444C-9FCF-9329FDEA84BF}"/>
              </a:ext>
            </a:extLst>
          </p:cNvPr>
          <p:cNvSpPr>
            <a:spLocks noGrp="1"/>
          </p:cNvSpPr>
          <p:nvPr/>
        </p:nvSpPr>
        <p:spPr>
          <a:xfrm>
            <a:off x="723900" y="600074"/>
            <a:ext cx="10668000" cy="708325"/>
          </a:xfrm>
          <a:prstGeom prst="rect">
            <a:avLst/>
          </a:prstGeom>
          <a:ln/>
        </p:spPr>
        <p:style>
          <a:lnRef idx="2">
            <a:schemeClr val="accent2"/>
          </a:lnRef>
          <a:fillRef idx="1">
            <a:schemeClr val="lt1"/>
          </a:fillRef>
          <a:effectRef idx="0">
            <a:schemeClr val="accent2"/>
          </a:effectRef>
          <a:fontRef idx="minor">
            <a:schemeClr val="dk1"/>
          </a:fontRef>
        </p:style>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dirty="0">
                <a:solidFill>
                  <a:srgbClr val="23223E"/>
                </a:solidFill>
                <a:latin typeface="Arial"/>
                <a:ea typeface="Arial"/>
                <a:cs typeface="Arial"/>
              </a:rPr>
              <a:t>Plot 4 of 16 - Correlation between performance measures</a:t>
            </a:r>
          </a:p>
        </p:txBody>
      </p:sp>
      <p:sp>
        <p:nvSpPr>
          <p:cNvPr id="79"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CORRELATION HEATMAP</a:t>
            </a:r>
          </a:p>
        </p:txBody>
      </p:sp>
      <p:sp>
        <p:nvSpPr>
          <p:cNvPr id="4" name="accent-line">
            <a:extLst>
              <a:ext uri="{FF2B5EF4-FFF2-40B4-BE49-F238E27FC236}">
                <a16:creationId xmlns:a16="http://schemas.microsoft.com/office/drawing/2014/main" id="{9CC38DC6-E318-412D-B47A-6FC9F948B31C}"/>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9FFAC9C4-450B-4C67-9EBB-CD0721FDCD99}"/>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CED13794-71A1-4D0F-BDE2-5A9361D6DB86}"/>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20</a:t>
            </a:r>
          </a:p>
        </p:txBody>
      </p:sp>
      <p:pic>
        <p:nvPicPr>
          <p:cNvPr id="7" name="Picture 6">
            <a:extLst>
              <a:ext uri="{FF2B5EF4-FFF2-40B4-BE49-F238E27FC236}">
                <a16:creationId xmlns:a16="http://schemas.microsoft.com/office/drawing/2014/main" id="{95E8F57E-F9EB-4AE7-B061-C00DCB6816CC}"/>
              </a:ext>
            </a:extLst>
          </p:cNvPr>
          <p:cNvPicPr>
            <a:picLocks noChangeAspect="1"/>
          </p:cNvPicPr>
          <p:nvPr/>
        </p:nvPicPr>
        <p:blipFill>
          <a:blip r:embed="rId4"/>
          <a:stretch/>
        </p:blipFill>
        <p:spPr>
          <a:xfrm>
            <a:off x="1301474" y="1476375"/>
            <a:ext cx="5398052" cy="4476750"/>
          </a:xfrm>
          <a:prstGeom prst="rect">
            <a:avLst/>
          </a:prstGeom>
        </p:spPr>
      </p:pic>
      <p:sp>
        <p:nvSpPr>
          <p:cNvPr id="8" name="text">
            <a:extLst>
              <a:ext uri="{FF2B5EF4-FFF2-40B4-BE49-F238E27FC236}">
                <a16:creationId xmlns:a16="http://schemas.microsoft.com/office/drawing/2014/main" id="{ECA69494-C248-4F72-91FD-A4E323CD0E39}"/>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E9EBB7BD-6864-4427-A067-2EFD5FB3C105}"/>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A correlation heatmap shows how closely numeric measures move together. Values closer to 1 mean a stronger positive relationship.</a:t>
            </a:r>
          </a:p>
        </p:txBody>
      </p:sp>
      <p:sp>
        <p:nvSpPr>
          <p:cNvPr id="10" name="text">
            <a:extLst>
              <a:ext uri="{FF2B5EF4-FFF2-40B4-BE49-F238E27FC236}">
                <a16:creationId xmlns:a16="http://schemas.microsoft.com/office/drawing/2014/main" id="{3D0433C6-10B2-4F7A-BC48-781503DF894F}"/>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A1CE9474-1B39-4AA0-AA5E-5756ED9C505F}"/>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Reach and impressions have a 0.99 correlation. Likes, comments, shares, and saves also have positive relationships.</a:t>
            </a:r>
          </a:p>
        </p:txBody>
      </p:sp>
      <p:sp>
        <p:nvSpPr>
          <p:cNvPr id="12" name="text">
            <a:extLst>
              <a:ext uri="{FF2B5EF4-FFF2-40B4-BE49-F238E27FC236}">
                <a16:creationId xmlns:a16="http://schemas.microsoft.com/office/drawing/2014/main" id="{721BBA0F-748E-4C27-A533-41EB621E1E70}"/>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CBCBCA79-5796-4D1C-8C9A-EA4A47F6E201}"/>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Reach and impressions move very closely together in these records. Correlation does not prove cause.</a:t>
            </a:r>
          </a:p>
        </p:txBody>
      </p:sp>
    </p:spTree>
    <p:extLst>
      <p:ext uri="{BB962C8B-B14F-4D97-AF65-F5344CB8AC3E}">
        <p14:creationId xmlns:p14="http://schemas.microsoft.com/office/powerpoint/2010/main" val="1136403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A84ADDD-31F5-4157-8A7E-04A8FE265F9D}"/>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339B0EE9-DAE5-49DB-8D34-329544CBEE42}"/>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AB881920-896F-4D41-8CB5-FADD715132FC}"/>
              </a:ext>
            </a:extLst>
          </p:cNvPr>
          <p:cNvSpPr>
            <a:spLocks noGrp="1"/>
          </p:cNvSpPr>
          <p:nvPr/>
        </p:nvSpPr>
        <p:spPr>
          <a:xfrm>
            <a:off x="723900" y="600075"/>
            <a:ext cx="10668000" cy="782550"/>
          </a:xfrm>
          <a:prstGeom prst="rect">
            <a:avLst/>
          </a:prstGeom>
          <a:ln/>
        </p:spPr>
        <p:style>
          <a:lnRef idx="2">
            <a:schemeClr val="accent2"/>
          </a:lnRef>
          <a:fillRef idx="1">
            <a:schemeClr val="lt1"/>
          </a:fillRef>
          <a:effectRef idx="0">
            <a:schemeClr val="accent2"/>
          </a:effectRef>
          <a:fontRef idx="minor">
            <a:schemeClr val="dk1"/>
          </a:fontRef>
        </p:style>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dirty="0">
                <a:solidFill>
                  <a:srgbClr val="23223E"/>
                </a:solidFill>
                <a:latin typeface="Arial"/>
                <a:ea typeface="Arial"/>
                <a:cs typeface="Arial"/>
              </a:rPr>
              <a:t>Plot 5 of 16 - Engagement rate by content category</a:t>
            </a:r>
          </a:p>
        </p:txBody>
      </p:sp>
      <p:sp>
        <p:nvSpPr>
          <p:cNvPr id="80"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HORIZONTAL BAR CHART</a:t>
            </a:r>
          </a:p>
        </p:txBody>
      </p:sp>
      <p:sp>
        <p:nvSpPr>
          <p:cNvPr id="4" name="accent-line">
            <a:extLst>
              <a:ext uri="{FF2B5EF4-FFF2-40B4-BE49-F238E27FC236}">
                <a16:creationId xmlns:a16="http://schemas.microsoft.com/office/drawing/2014/main" id="{7444912C-3B09-4CB8-8362-5C2AD1B8083C}"/>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B74B28D3-F267-457F-BC63-70A4F0391392}"/>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80C24BDD-5A9C-4DB1-96D3-FDB82947A6D9}"/>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21</a:t>
            </a:r>
          </a:p>
        </p:txBody>
      </p:sp>
      <p:pic>
        <p:nvPicPr>
          <p:cNvPr id="7" name="Picture 6">
            <a:extLst>
              <a:ext uri="{FF2B5EF4-FFF2-40B4-BE49-F238E27FC236}">
                <a16:creationId xmlns:a16="http://schemas.microsoft.com/office/drawing/2014/main" id="{BC5EB4CC-EEE8-4B4A-BEE2-2F0CD1CA1DDE}"/>
              </a:ext>
            </a:extLst>
          </p:cNvPr>
          <p:cNvPicPr>
            <a:picLocks noChangeAspect="1"/>
          </p:cNvPicPr>
          <p:nvPr/>
        </p:nvPicPr>
        <p:blipFill>
          <a:blip r:embed="rId4"/>
          <a:stretch/>
        </p:blipFill>
        <p:spPr>
          <a:xfrm>
            <a:off x="623968" y="1476375"/>
            <a:ext cx="6753064" cy="4476750"/>
          </a:xfrm>
          <a:prstGeom prst="rect">
            <a:avLst/>
          </a:prstGeom>
        </p:spPr>
      </p:pic>
      <p:sp>
        <p:nvSpPr>
          <p:cNvPr id="8" name="text">
            <a:extLst>
              <a:ext uri="{FF2B5EF4-FFF2-40B4-BE49-F238E27FC236}">
                <a16:creationId xmlns:a16="http://schemas.microsoft.com/office/drawing/2014/main" id="{606F91CF-AE13-4389-816F-E9FCBD3E5276}"/>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CA77F712-7116-41CD-97FE-795F5D3E7684}"/>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dirty="0">
                <a:solidFill>
                  <a:srgbClr val="34364F"/>
                </a:solidFill>
                <a:latin typeface="Arial"/>
                <a:ea typeface="Arial"/>
                <a:cs typeface="Arial"/>
              </a:rPr>
              <a:t>This chart compares the average engagement rate across ten content categories.</a:t>
            </a:r>
          </a:p>
        </p:txBody>
      </p:sp>
      <p:sp>
        <p:nvSpPr>
          <p:cNvPr id="10" name="text">
            <a:extLst>
              <a:ext uri="{FF2B5EF4-FFF2-40B4-BE49-F238E27FC236}">
                <a16:creationId xmlns:a16="http://schemas.microsoft.com/office/drawing/2014/main" id="{9017F8B9-E593-46AD-A136-06952BEED5B1}"/>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52E997CC-CC94-4639-ACEE-237D346FF7F7}"/>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Music is highest at about 4.28%. Photography is lowest at about 4.15%.</a:t>
            </a:r>
          </a:p>
        </p:txBody>
      </p:sp>
      <p:sp>
        <p:nvSpPr>
          <p:cNvPr id="12" name="text">
            <a:extLst>
              <a:ext uri="{FF2B5EF4-FFF2-40B4-BE49-F238E27FC236}">
                <a16:creationId xmlns:a16="http://schemas.microsoft.com/office/drawing/2014/main" id="{A6954FF6-48A6-4E5A-8DA4-24C04F4AB9CB}"/>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AC057F45-8FDB-412D-89F5-C69DB44315CA}"/>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The difference is small, about 0.13 percentage points.</a:t>
            </a:r>
          </a:p>
        </p:txBody>
      </p:sp>
    </p:spTree>
    <p:extLst>
      <p:ext uri="{BB962C8B-B14F-4D97-AF65-F5344CB8AC3E}">
        <p14:creationId xmlns:p14="http://schemas.microsoft.com/office/powerpoint/2010/main" val="1298760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DAF6961-EE05-49A0-B2A0-BC76ABDEC5C6}"/>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CE00A88F-A570-4D8C-86E3-ADAEE8CE3CCE}"/>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094DE1E0-FA73-4D86-8BF1-2D323EBF7EEA}"/>
              </a:ext>
            </a:extLst>
          </p:cNvPr>
          <p:cNvSpPr>
            <a:spLocks noGrp="1"/>
          </p:cNvSpPr>
          <p:nvPr/>
        </p:nvSpPr>
        <p:spPr>
          <a:xfrm>
            <a:off x="723900" y="600075"/>
            <a:ext cx="10668000" cy="933450"/>
          </a:xfrm>
          <a:prstGeom prst="rect">
            <a:avLst/>
          </a:prstGeom>
          <a:ln/>
        </p:spPr>
        <p:style>
          <a:lnRef idx="2">
            <a:schemeClr val="accent2"/>
          </a:lnRef>
          <a:fillRef idx="1">
            <a:schemeClr val="lt1"/>
          </a:fillRef>
          <a:effectRef idx="0">
            <a:schemeClr val="accent2"/>
          </a:effectRef>
          <a:fontRef idx="minor">
            <a:schemeClr val="dk1"/>
          </a:fontRef>
        </p:style>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dirty="0">
                <a:solidFill>
                  <a:srgbClr val="23223E"/>
                </a:solidFill>
                <a:latin typeface="Arial"/>
                <a:ea typeface="Arial"/>
                <a:cs typeface="Arial"/>
              </a:rPr>
              <a:t>Plot 6 of 16 - Average engagement rate by month</a:t>
            </a:r>
          </a:p>
        </p:txBody>
      </p:sp>
      <p:sp>
        <p:nvSpPr>
          <p:cNvPr id="81"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LINE CHART</a:t>
            </a:r>
          </a:p>
        </p:txBody>
      </p:sp>
      <p:sp>
        <p:nvSpPr>
          <p:cNvPr id="4" name="accent-line">
            <a:extLst>
              <a:ext uri="{FF2B5EF4-FFF2-40B4-BE49-F238E27FC236}">
                <a16:creationId xmlns:a16="http://schemas.microsoft.com/office/drawing/2014/main" id="{A8C27314-5E22-406F-A7D4-AF44843F2073}"/>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CF4EE833-DC24-4AA3-998F-FC877563A7FC}"/>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C91E23B2-659E-4F60-875B-393C6382E5D4}"/>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22</a:t>
            </a:r>
          </a:p>
        </p:txBody>
      </p:sp>
      <p:pic>
        <p:nvPicPr>
          <p:cNvPr id="7" name="Picture 6">
            <a:extLst>
              <a:ext uri="{FF2B5EF4-FFF2-40B4-BE49-F238E27FC236}">
                <a16:creationId xmlns:a16="http://schemas.microsoft.com/office/drawing/2014/main" id="{56B4ECE0-016B-46A4-8290-43BA6395CB5B}"/>
              </a:ext>
            </a:extLst>
          </p:cNvPr>
          <p:cNvPicPr>
            <a:picLocks noChangeAspect="1"/>
          </p:cNvPicPr>
          <p:nvPr/>
        </p:nvPicPr>
        <p:blipFill>
          <a:blip r:embed="rId4"/>
          <a:stretch/>
        </p:blipFill>
        <p:spPr>
          <a:xfrm>
            <a:off x="571500" y="2173273"/>
            <a:ext cx="6858000" cy="3082954"/>
          </a:xfrm>
          <a:prstGeom prst="rect">
            <a:avLst/>
          </a:prstGeom>
        </p:spPr>
      </p:pic>
      <p:sp>
        <p:nvSpPr>
          <p:cNvPr id="8" name="text">
            <a:extLst>
              <a:ext uri="{FF2B5EF4-FFF2-40B4-BE49-F238E27FC236}">
                <a16:creationId xmlns:a16="http://schemas.microsoft.com/office/drawing/2014/main" id="{C5EED6D0-9977-4719-9872-0AEE2DE671DB}"/>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EC583EB0-E2E6-45E5-9F3C-1DE7294B7523}"/>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The line chart shows the average engagement rate for each month.</a:t>
            </a:r>
          </a:p>
        </p:txBody>
      </p:sp>
      <p:sp>
        <p:nvSpPr>
          <p:cNvPr id="10" name="text">
            <a:extLst>
              <a:ext uri="{FF2B5EF4-FFF2-40B4-BE49-F238E27FC236}">
                <a16:creationId xmlns:a16="http://schemas.microsoft.com/office/drawing/2014/main" id="{AD3B32FD-698E-4A5C-A8C2-BCA1436C3217}"/>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344DFDA8-9C69-41AF-8622-696029A5798F}"/>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Monthly averages stay in a narrow range, about 4.13% to 4.28%.</a:t>
            </a:r>
          </a:p>
        </p:txBody>
      </p:sp>
      <p:sp>
        <p:nvSpPr>
          <p:cNvPr id="12" name="text">
            <a:extLst>
              <a:ext uri="{FF2B5EF4-FFF2-40B4-BE49-F238E27FC236}">
                <a16:creationId xmlns:a16="http://schemas.microsoft.com/office/drawing/2014/main" id="{2A7EE4A8-FB9F-465D-986D-B97FB0C6ACCB}"/>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A6F99BE6-C6C4-48FC-81B4-FEB750D9BB24}"/>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The monthly engagement rate is fairly steady in this period.</a:t>
            </a:r>
          </a:p>
        </p:txBody>
      </p:sp>
    </p:spTree>
    <p:extLst>
      <p:ext uri="{BB962C8B-B14F-4D97-AF65-F5344CB8AC3E}">
        <p14:creationId xmlns:p14="http://schemas.microsoft.com/office/powerpoint/2010/main" val="530252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6136B39-C874-48CC-931D-7F73760B1CC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A1CC1F3D-1CED-4BF5-AE72-044F01BD9350}"/>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4CDB1FFC-38C2-43D9-A5F5-480137726659}"/>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Plot 7 of 16 - Reach and impressions by account type</a:t>
            </a:r>
          </a:p>
        </p:txBody>
      </p:sp>
      <p:sp>
        <p:nvSpPr>
          <p:cNvPr id="82"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SCATTER PLOT</a:t>
            </a:r>
          </a:p>
        </p:txBody>
      </p:sp>
      <p:sp>
        <p:nvSpPr>
          <p:cNvPr id="4" name="accent-line">
            <a:extLst>
              <a:ext uri="{FF2B5EF4-FFF2-40B4-BE49-F238E27FC236}">
                <a16:creationId xmlns:a16="http://schemas.microsoft.com/office/drawing/2014/main" id="{BF4BBBE1-623C-4398-9599-904AAFB0AFDE}"/>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EC2A726F-3D0B-45C3-82C3-003F88A256B1}"/>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39C4E62D-CDC8-417C-AF70-284F81D2809D}"/>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23</a:t>
            </a:r>
          </a:p>
        </p:txBody>
      </p:sp>
      <p:pic>
        <p:nvPicPr>
          <p:cNvPr id="7" name="Picture 6">
            <a:extLst>
              <a:ext uri="{FF2B5EF4-FFF2-40B4-BE49-F238E27FC236}">
                <a16:creationId xmlns:a16="http://schemas.microsoft.com/office/drawing/2014/main" id="{D5BE3D4A-7B27-46F1-9FCA-34502125FDAE}"/>
              </a:ext>
            </a:extLst>
          </p:cNvPr>
          <p:cNvPicPr>
            <a:picLocks noChangeAspect="1"/>
          </p:cNvPicPr>
          <p:nvPr/>
        </p:nvPicPr>
        <p:blipFill>
          <a:blip r:embed="rId4"/>
          <a:stretch/>
        </p:blipFill>
        <p:spPr>
          <a:xfrm>
            <a:off x="627762" y="1476375"/>
            <a:ext cx="6745476" cy="4476750"/>
          </a:xfrm>
          <a:prstGeom prst="rect">
            <a:avLst/>
          </a:prstGeom>
        </p:spPr>
      </p:pic>
      <p:sp>
        <p:nvSpPr>
          <p:cNvPr id="8" name="text">
            <a:extLst>
              <a:ext uri="{FF2B5EF4-FFF2-40B4-BE49-F238E27FC236}">
                <a16:creationId xmlns:a16="http://schemas.microsoft.com/office/drawing/2014/main" id="{85666F36-2A47-4B80-88A6-9A8510862D40}"/>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9CF09540-44A5-4A62-ABDD-C1D426C376C4}"/>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Each dot is one post. The chart compares reach and impressions for brand and creator posts.</a:t>
            </a:r>
          </a:p>
        </p:txBody>
      </p:sp>
      <p:sp>
        <p:nvSpPr>
          <p:cNvPr id="10" name="text">
            <a:extLst>
              <a:ext uri="{FF2B5EF4-FFF2-40B4-BE49-F238E27FC236}">
                <a16:creationId xmlns:a16="http://schemas.microsoft.com/office/drawing/2014/main" id="{957918F9-49AB-4CB6-9C8C-8603AAB0A8D9}"/>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B73DCA05-1CEC-4A72-B967-F643E05D14EC}"/>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For both account types, higher reach generally appears with higher impressions. The two groups overlap.</a:t>
            </a:r>
          </a:p>
        </p:txBody>
      </p:sp>
      <p:sp>
        <p:nvSpPr>
          <p:cNvPr id="12" name="text">
            <a:extLst>
              <a:ext uri="{FF2B5EF4-FFF2-40B4-BE49-F238E27FC236}">
                <a16:creationId xmlns:a16="http://schemas.microsoft.com/office/drawing/2014/main" id="{84BFB4D0-8D1F-4CBA-A2A8-A540BCF69C8D}"/>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E91F8ACE-7433-465F-8A44-CB129FFEB42D}"/>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Reach and impressions rise together for both account types.</a:t>
            </a:r>
          </a:p>
        </p:txBody>
      </p:sp>
    </p:spTree>
    <p:extLst>
      <p:ext uri="{BB962C8B-B14F-4D97-AF65-F5344CB8AC3E}">
        <p14:creationId xmlns:p14="http://schemas.microsoft.com/office/powerpoint/2010/main" val="524123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5C263A1-6A4A-4E30-82FE-998125D3A707}"/>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18025A92-053A-4D69-9020-0BEEDF03550A}"/>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06A301D0-0441-4C66-9CF9-3270DB759398}"/>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Plot 8 of 16 - Engagement rate by media type</a:t>
            </a:r>
          </a:p>
        </p:txBody>
      </p:sp>
      <p:sp>
        <p:nvSpPr>
          <p:cNvPr id="83"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BOX PLOT</a:t>
            </a:r>
          </a:p>
        </p:txBody>
      </p:sp>
      <p:sp>
        <p:nvSpPr>
          <p:cNvPr id="4" name="accent-line">
            <a:extLst>
              <a:ext uri="{FF2B5EF4-FFF2-40B4-BE49-F238E27FC236}">
                <a16:creationId xmlns:a16="http://schemas.microsoft.com/office/drawing/2014/main" id="{8BE7BF9E-D9CC-4879-812E-8DDF4D8BDCE8}"/>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4592524A-334A-4C3D-B86C-64A389E463E8}"/>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4EF193C2-1200-483B-A5B2-BD959FD9DF78}"/>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24</a:t>
            </a:r>
          </a:p>
        </p:txBody>
      </p:sp>
      <p:pic>
        <p:nvPicPr>
          <p:cNvPr id="7" name="Picture 6">
            <a:extLst>
              <a:ext uri="{FF2B5EF4-FFF2-40B4-BE49-F238E27FC236}">
                <a16:creationId xmlns:a16="http://schemas.microsoft.com/office/drawing/2014/main" id="{66315306-D883-48A4-A808-5F92EDE46A90}"/>
              </a:ext>
            </a:extLst>
          </p:cNvPr>
          <p:cNvPicPr>
            <a:picLocks noChangeAspect="1"/>
          </p:cNvPicPr>
          <p:nvPr/>
        </p:nvPicPr>
        <p:blipFill>
          <a:blip r:embed="rId4"/>
          <a:stretch/>
        </p:blipFill>
        <p:spPr>
          <a:xfrm>
            <a:off x="571500" y="1587902"/>
            <a:ext cx="6858000" cy="4253696"/>
          </a:xfrm>
          <a:prstGeom prst="rect">
            <a:avLst/>
          </a:prstGeom>
        </p:spPr>
      </p:pic>
      <p:sp>
        <p:nvSpPr>
          <p:cNvPr id="8" name="text">
            <a:extLst>
              <a:ext uri="{FF2B5EF4-FFF2-40B4-BE49-F238E27FC236}">
                <a16:creationId xmlns:a16="http://schemas.microsoft.com/office/drawing/2014/main" id="{BCCA0B09-A62B-40C7-8B72-451F230A83CF}"/>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EAD46815-94F4-44D0-8371-25FEF274A454}"/>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A box plot compares the middle value and spread of engagement rates for each media type.</a:t>
            </a:r>
          </a:p>
        </p:txBody>
      </p:sp>
      <p:sp>
        <p:nvSpPr>
          <p:cNvPr id="10" name="text">
            <a:extLst>
              <a:ext uri="{FF2B5EF4-FFF2-40B4-BE49-F238E27FC236}">
                <a16:creationId xmlns:a16="http://schemas.microsoft.com/office/drawing/2014/main" id="{04429C3F-FA03-452A-B909-94D2D6364BB0}"/>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BA6B5816-5529-4007-9100-755E4B7A49B1}"/>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The boxes and whiskers overlap, so the ranges look similar.</a:t>
            </a:r>
          </a:p>
        </p:txBody>
      </p:sp>
      <p:sp>
        <p:nvSpPr>
          <p:cNvPr id="12" name="text">
            <a:extLst>
              <a:ext uri="{FF2B5EF4-FFF2-40B4-BE49-F238E27FC236}">
                <a16:creationId xmlns:a16="http://schemas.microsoft.com/office/drawing/2014/main" id="{F70C4EC8-7527-482F-9B80-FAD12D9D5099}"/>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9D129269-3AAB-41FF-9D48-E93C3DF6B5EF}"/>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The media types have broadly similar engagement-rate distributions.</a:t>
            </a:r>
          </a:p>
        </p:txBody>
      </p:sp>
    </p:spTree>
    <p:extLst>
      <p:ext uri="{BB962C8B-B14F-4D97-AF65-F5344CB8AC3E}">
        <p14:creationId xmlns:p14="http://schemas.microsoft.com/office/powerpoint/2010/main" val="1807924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D7BF303-286F-49D0-9284-68E2437DE44D}"/>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6A0D634A-3F94-4D56-939F-F48CCB0ED077}"/>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5B666AC7-1550-47D6-9290-7FBC40880752}"/>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Plot 9 of 16 - Total interactions by media type</a:t>
            </a:r>
          </a:p>
        </p:txBody>
      </p:sp>
      <p:sp>
        <p:nvSpPr>
          <p:cNvPr id="84"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VIOLIN PLOT</a:t>
            </a:r>
          </a:p>
        </p:txBody>
      </p:sp>
      <p:sp>
        <p:nvSpPr>
          <p:cNvPr id="4" name="accent-line">
            <a:extLst>
              <a:ext uri="{FF2B5EF4-FFF2-40B4-BE49-F238E27FC236}">
                <a16:creationId xmlns:a16="http://schemas.microsoft.com/office/drawing/2014/main" id="{00BDAAE2-304C-4FCC-BEC0-944FEB895EDC}"/>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B6807C97-FD11-4235-8718-EABDC546AFC1}"/>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298686C1-2189-478B-AC13-87C9C51C0726}"/>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25</a:t>
            </a:r>
          </a:p>
        </p:txBody>
      </p:sp>
      <p:pic>
        <p:nvPicPr>
          <p:cNvPr id="7" name="Picture 6">
            <a:extLst>
              <a:ext uri="{FF2B5EF4-FFF2-40B4-BE49-F238E27FC236}">
                <a16:creationId xmlns:a16="http://schemas.microsoft.com/office/drawing/2014/main" id="{5FADFD39-1C59-4628-9554-E4782082BB61}"/>
              </a:ext>
            </a:extLst>
          </p:cNvPr>
          <p:cNvPicPr>
            <a:picLocks noChangeAspect="1"/>
          </p:cNvPicPr>
          <p:nvPr/>
        </p:nvPicPr>
        <p:blipFill>
          <a:blip r:embed="rId4"/>
          <a:stretch/>
        </p:blipFill>
        <p:spPr>
          <a:xfrm>
            <a:off x="571500" y="1587902"/>
            <a:ext cx="6858000" cy="4253696"/>
          </a:xfrm>
          <a:prstGeom prst="rect">
            <a:avLst/>
          </a:prstGeom>
        </p:spPr>
      </p:pic>
      <p:sp>
        <p:nvSpPr>
          <p:cNvPr id="8" name="text">
            <a:extLst>
              <a:ext uri="{FF2B5EF4-FFF2-40B4-BE49-F238E27FC236}">
                <a16:creationId xmlns:a16="http://schemas.microsoft.com/office/drawing/2014/main" id="{51A372BF-8093-47A8-8C6C-D7056E64A10B}"/>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9D4ACF17-FAEA-4ADF-ADE2-5C4D82C62B73}"/>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A violin plot shows where interaction counts are concentrated for each media type. Wider areas contain more posts.</a:t>
            </a:r>
          </a:p>
        </p:txBody>
      </p:sp>
      <p:sp>
        <p:nvSpPr>
          <p:cNvPr id="10" name="text">
            <a:extLst>
              <a:ext uri="{FF2B5EF4-FFF2-40B4-BE49-F238E27FC236}">
                <a16:creationId xmlns:a16="http://schemas.microsoft.com/office/drawing/2014/main" id="{A76EA0C4-CD38-484A-9E5E-573807438F21}"/>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32FFADD4-8415-4E51-916A-B22D9A657C7B}"/>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The shapes are broadly similar, with many posts at lower counts and fewer at high counts.</a:t>
            </a:r>
          </a:p>
        </p:txBody>
      </p:sp>
      <p:sp>
        <p:nvSpPr>
          <p:cNvPr id="12" name="text">
            <a:extLst>
              <a:ext uri="{FF2B5EF4-FFF2-40B4-BE49-F238E27FC236}">
                <a16:creationId xmlns:a16="http://schemas.microsoft.com/office/drawing/2014/main" id="{7F573651-48E4-4B14-8B96-BB43EE6F447F}"/>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AD4C6C7A-EE02-4361-8944-43B927E3C5F2}"/>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The distribution shapes are more alike than different.</a:t>
            </a:r>
          </a:p>
        </p:txBody>
      </p:sp>
    </p:spTree>
    <p:extLst>
      <p:ext uri="{BB962C8B-B14F-4D97-AF65-F5344CB8AC3E}">
        <p14:creationId xmlns:p14="http://schemas.microsoft.com/office/powerpoint/2010/main" val="1168314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18F53BE-1B83-4E39-A48E-8AFE096F5FB8}"/>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A4C2902E-0498-4179-A5B1-CBDC4884864D}"/>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13A078CD-A990-46C8-A9FC-FBDDEC355008}"/>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Plot 10 of 16 - Posts by account type</a:t>
            </a:r>
          </a:p>
        </p:txBody>
      </p:sp>
      <p:sp>
        <p:nvSpPr>
          <p:cNvPr id="85"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PIE CHART</a:t>
            </a:r>
          </a:p>
        </p:txBody>
      </p:sp>
      <p:sp>
        <p:nvSpPr>
          <p:cNvPr id="4" name="accent-line">
            <a:extLst>
              <a:ext uri="{FF2B5EF4-FFF2-40B4-BE49-F238E27FC236}">
                <a16:creationId xmlns:a16="http://schemas.microsoft.com/office/drawing/2014/main" id="{5F063A9E-A7EE-4F15-9E58-BEEC7A8E6087}"/>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637F1C31-32E2-4117-A59D-369E41E35195}"/>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D32240DB-3D9A-48D5-A080-3B3C8C688476}"/>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26</a:t>
            </a:r>
          </a:p>
        </p:txBody>
      </p:sp>
      <p:pic>
        <p:nvPicPr>
          <p:cNvPr id="7" name="Picture 6">
            <a:extLst>
              <a:ext uri="{FF2B5EF4-FFF2-40B4-BE49-F238E27FC236}">
                <a16:creationId xmlns:a16="http://schemas.microsoft.com/office/drawing/2014/main" id="{348BE07F-0EFD-4D3A-9C62-470379974188}"/>
              </a:ext>
            </a:extLst>
          </p:cNvPr>
          <p:cNvPicPr>
            <a:picLocks noChangeAspect="1"/>
          </p:cNvPicPr>
          <p:nvPr/>
        </p:nvPicPr>
        <p:blipFill>
          <a:blip r:embed="rId4"/>
          <a:stretch/>
        </p:blipFill>
        <p:spPr>
          <a:xfrm>
            <a:off x="1827846" y="1476375"/>
            <a:ext cx="4345308" cy="4476750"/>
          </a:xfrm>
          <a:prstGeom prst="rect">
            <a:avLst/>
          </a:prstGeom>
        </p:spPr>
      </p:pic>
      <p:sp>
        <p:nvSpPr>
          <p:cNvPr id="8" name="text">
            <a:extLst>
              <a:ext uri="{FF2B5EF4-FFF2-40B4-BE49-F238E27FC236}">
                <a16:creationId xmlns:a16="http://schemas.microsoft.com/office/drawing/2014/main" id="{C7A19A08-2417-4C19-BA08-6DF1C0CE42CC}"/>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EB8E6021-8F25-4C25-B570-0107E7FF14CC}"/>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The pie chart shows the share of all posts from brands and creators.</a:t>
            </a:r>
          </a:p>
        </p:txBody>
      </p:sp>
      <p:sp>
        <p:nvSpPr>
          <p:cNvPr id="10" name="text">
            <a:extLst>
              <a:ext uri="{FF2B5EF4-FFF2-40B4-BE49-F238E27FC236}">
                <a16:creationId xmlns:a16="http://schemas.microsoft.com/office/drawing/2014/main" id="{D9118949-5C56-43BC-AC6E-09D964A00954}"/>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74286CB8-7995-4C6D-A960-F006FD05B8E1}"/>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Creators contributed 20,944 posts, about 69.8%. Brands contributed 9,055 posts, about 30.2%.</a:t>
            </a:r>
          </a:p>
        </p:txBody>
      </p:sp>
      <p:sp>
        <p:nvSpPr>
          <p:cNvPr id="12" name="text">
            <a:extLst>
              <a:ext uri="{FF2B5EF4-FFF2-40B4-BE49-F238E27FC236}">
                <a16:creationId xmlns:a16="http://schemas.microsoft.com/office/drawing/2014/main" id="{B6DAE0E1-2075-496E-9D21-94378B7E5959}"/>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BD6290CD-270E-40C8-BDAE-13166C73E387}"/>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Creator posts make up about seven in ten records.</a:t>
            </a:r>
          </a:p>
        </p:txBody>
      </p:sp>
    </p:spTree>
    <p:extLst>
      <p:ext uri="{BB962C8B-B14F-4D97-AF65-F5344CB8AC3E}">
        <p14:creationId xmlns:p14="http://schemas.microsoft.com/office/powerpoint/2010/main" val="1922028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B2A493D-4A71-4C2F-AFCA-7CD3C53CB439}"/>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49B9171B-344B-49B0-BE93-FC3D0DCE3B47}"/>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A3B303B5-9F65-4253-87FD-DFA5B03BCF5B}"/>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Plot 11 of 16 - Engagement rate and followers gained</a:t>
            </a:r>
          </a:p>
        </p:txBody>
      </p:sp>
      <p:sp>
        <p:nvSpPr>
          <p:cNvPr id="86"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INTERACTIVE SCATTER PLOT</a:t>
            </a:r>
          </a:p>
        </p:txBody>
      </p:sp>
      <p:sp>
        <p:nvSpPr>
          <p:cNvPr id="4" name="accent-line">
            <a:extLst>
              <a:ext uri="{FF2B5EF4-FFF2-40B4-BE49-F238E27FC236}">
                <a16:creationId xmlns:a16="http://schemas.microsoft.com/office/drawing/2014/main" id="{10D6BF0F-07BB-4006-B510-0534A02A4F54}"/>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4CA94A79-6360-49DE-95D4-2D586855167E}"/>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0701746F-A3A6-4AEB-8468-3D6AD048521B}"/>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27</a:t>
            </a:r>
          </a:p>
        </p:txBody>
      </p:sp>
      <p:pic>
        <p:nvPicPr>
          <p:cNvPr id="7" name="Picture 6">
            <a:extLst>
              <a:ext uri="{FF2B5EF4-FFF2-40B4-BE49-F238E27FC236}">
                <a16:creationId xmlns:a16="http://schemas.microsoft.com/office/drawing/2014/main" id="{F48F62D4-9547-4900-8EC3-1C47B8316612}"/>
              </a:ext>
            </a:extLst>
          </p:cNvPr>
          <p:cNvPicPr>
            <a:picLocks noChangeAspect="1"/>
          </p:cNvPicPr>
          <p:nvPr/>
        </p:nvPicPr>
        <p:blipFill>
          <a:blip r:embed="rId4"/>
          <a:stretch/>
        </p:blipFill>
        <p:spPr>
          <a:xfrm>
            <a:off x="571500" y="2248669"/>
            <a:ext cx="6858000" cy="2932162"/>
          </a:xfrm>
          <a:prstGeom prst="rect">
            <a:avLst/>
          </a:prstGeom>
        </p:spPr>
      </p:pic>
      <p:sp>
        <p:nvSpPr>
          <p:cNvPr id="8" name="text">
            <a:extLst>
              <a:ext uri="{FF2B5EF4-FFF2-40B4-BE49-F238E27FC236}">
                <a16:creationId xmlns:a16="http://schemas.microsoft.com/office/drawing/2014/main" id="{FEA1185D-26CF-4375-B267-3A511455F50E}"/>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AC9517A0-DD90-42B4-984D-F5F14F43A535}"/>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Each dot is a post. The colors show media type. Hovering in the notebook can reveal post details.</a:t>
            </a:r>
          </a:p>
        </p:txBody>
      </p:sp>
      <p:sp>
        <p:nvSpPr>
          <p:cNvPr id="10" name="text">
            <a:extLst>
              <a:ext uri="{FF2B5EF4-FFF2-40B4-BE49-F238E27FC236}">
                <a16:creationId xmlns:a16="http://schemas.microsoft.com/office/drawing/2014/main" id="{18C27592-ECCB-41D1-8F21-881DD562B882}"/>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BDEE2930-FB8B-44C7-A865-F6026445D612}"/>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The points are spread across follower gains, with media types mixed together. No clear straight-line pattern stands out.</a:t>
            </a:r>
          </a:p>
        </p:txBody>
      </p:sp>
      <p:sp>
        <p:nvSpPr>
          <p:cNvPr id="12" name="text">
            <a:extLst>
              <a:ext uri="{FF2B5EF4-FFF2-40B4-BE49-F238E27FC236}">
                <a16:creationId xmlns:a16="http://schemas.microsoft.com/office/drawing/2014/main" id="{B721314C-FA06-4DE4-9AA6-18B7CFF1C19E}"/>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CF5228BB-E2C2-48E1-AADA-1ACAEAD088D0}"/>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Follower gain and engagement rate do not show a clear linear pattern here.</a:t>
            </a:r>
          </a:p>
        </p:txBody>
      </p:sp>
    </p:spTree>
    <p:extLst>
      <p:ext uri="{BB962C8B-B14F-4D97-AF65-F5344CB8AC3E}">
        <p14:creationId xmlns:p14="http://schemas.microsoft.com/office/powerpoint/2010/main" val="8432240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577441C-7B5B-4F78-BD6A-0E26D4028F53}"/>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2C2ED428-AE49-4E6A-B0FF-E27AD9FC022A}"/>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A19E2D49-1D7E-48DA-A6C8-309D343B5C34}"/>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Plot 12 of 16 - Performance group by call to action</a:t>
            </a:r>
          </a:p>
        </p:txBody>
      </p:sp>
      <p:sp>
        <p:nvSpPr>
          <p:cNvPr id="87"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STACKED BAR CHART</a:t>
            </a:r>
          </a:p>
        </p:txBody>
      </p:sp>
      <p:sp>
        <p:nvSpPr>
          <p:cNvPr id="4" name="accent-line">
            <a:extLst>
              <a:ext uri="{FF2B5EF4-FFF2-40B4-BE49-F238E27FC236}">
                <a16:creationId xmlns:a16="http://schemas.microsoft.com/office/drawing/2014/main" id="{DF7D57A3-012A-42F0-8673-5B6104C5FA20}"/>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A1082F6C-AFA4-475C-8FFC-2163BB5439E9}"/>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72CACFA1-E8DC-42C3-93C9-6617B20E65D5}"/>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28</a:t>
            </a:r>
          </a:p>
        </p:txBody>
      </p:sp>
      <p:pic>
        <p:nvPicPr>
          <p:cNvPr id="7" name="Picture 6">
            <a:extLst>
              <a:ext uri="{FF2B5EF4-FFF2-40B4-BE49-F238E27FC236}">
                <a16:creationId xmlns:a16="http://schemas.microsoft.com/office/drawing/2014/main" id="{58882D17-07D5-446B-95E0-015F0171306A}"/>
              </a:ext>
            </a:extLst>
          </p:cNvPr>
          <p:cNvPicPr>
            <a:picLocks noChangeAspect="1"/>
          </p:cNvPicPr>
          <p:nvPr/>
        </p:nvPicPr>
        <p:blipFill>
          <a:blip r:embed="rId4"/>
          <a:stretch/>
        </p:blipFill>
        <p:spPr>
          <a:xfrm>
            <a:off x="627762" y="1476375"/>
            <a:ext cx="6745476" cy="4476750"/>
          </a:xfrm>
          <a:prstGeom prst="rect">
            <a:avLst/>
          </a:prstGeom>
        </p:spPr>
      </p:pic>
      <p:sp>
        <p:nvSpPr>
          <p:cNvPr id="8" name="text">
            <a:extLst>
              <a:ext uri="{FF2B5EF4-FFF2-40B4-BE49-F238E27FC236}">
                <a16:creationId xmlns:a16="http://schemas.microsoft.com/office/drawing/2014/main" id="{F47790C7-82D6-448D-9E94-413DB55F82A7}"/>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39B69164-DD89-44B6-A2F7-8010729DB46D}"/>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The stacked bars compare the percent of posts labeled low, medium, high, or viral for each call-to-action group.</a:t>
            </a:r>
          </a:p>
        </p:txBody>
      </p:sp>
      <p:sp>
        <p:nvSpPr>
          <p:cNvPr id="10" name="text">
            <a:extLst>
              <a:ext uri="{FF2B5EF4-FFF2-40B4-BE49-F238E27FC236}">
                <a16:creationId xmlns:a16="http://schemas.microsoft.com/office/drawing/2014/main" id="{C7BC4075-AF25-4104-B447-1D16D5342A68}"/>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B61BA06D-0065-4D24-A99C-D57B2F6847CC}"/>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The four groups are close to one quarter each. The percentages differ only slightly between CTA and no-CTA posts.</a:t>
            </a:r>
          </a:p>
        </p:txBody>
      </p:sp>
      <p:sp>
        <p:nvSpPr>
          <p:cNvPr id="12" name="text">
            <a:extLst>
              <a:ext uri="{FF2B5EF4-FFF2-40B4-BE49-F238E27FC236}">
                <a16:creationId xmlns:a16="http://schemas.microsoft.com/office/drawing/2014/main" id="{F928DD80-37D1-4801-8BCD-1FFE871DBEF1}"/>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0451B2FE-5DA6-40DD-8812-7BE512703746}"/>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The bucket mix looks similar for posts with and without a call to action.</a:t>
            </a:r>
          </a:p>
        </p:txBody>
      </p:sp>
    </p:spTree>
    <p:extLst>
      <p:ext uri="{BB962C8B-B14F-4D97-AF65-F5344CB8AC3E}">
        <p14:creationId xmlns:p14="http://schemas.microsoft.com/office/powerpoint/2010/main" val="1932976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6AC3459A-56E7-476B-802F-F5F7E48EA42C}"/>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4A39B90B-B763-4472-9F07-783AAE75FF2A}"/>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3113CFC9-76E6-4919-9597-820E4A1FCF52}"/>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Plot 13 of 16 - Number of posts by month</a:t>
            </a:r>
          </a:p>
        </p:txBody>
      </p:sp>
      <p:sp>
        <p:nvSpPr>
          <p:cNvPr id="88"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AREA CHART</a:t>
            </a:r>
          </a:p>
        </p:txBody>
      </p:sp>
      <p:sp>
        <p:nvSpPr>
          <p:cNvPr id="4" name="accent-line">
            <a:extLst>
              <a:ext uri="{FF2B5EF4-FFF2-40B4-BE49-F238E27FC236}">
                <a16:creationId xmlns:a16="http://schemas.microsoft.com/office/drawing/2014/main" id="{656EA776-840A-479E-82F9-D3F61A725382}"/>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37D58D57-4742-4BB0-BF89-E189F54C3B43}"/>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B21D6D14-7B08-41CF-9335-E8F98B1591CA}"/>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29</a:t>
            </a:r>
          </a:p>
        </p:txBody>
      </p:sp>
      <p:pic>
        <p:nvPicPr>
          <p:cNvPr id="7" name="Picture 6">
            <a:extLst>
              <a:ext uri="{FF2B5EF4-FFF2-40B4-BE49-F238E27FC236}">
                <a16:creationId xmlns:a16="http://schemas.microsoft.com/office/drawing/2014/main" id="{9346E0AF-9861-45B0-AC1B-4A4502B09DE5}"/>
              </a:ext>
            </a:extLst>
          </p:cNvPr>
          <p:cNvPicPr>
            <a:picLocks noChangeAspect="1"/>
          </p:cNvPicPr>
          <p:nvPr/>
        </p:nvPicPr>
        <p:blipFill>
          <a:blip r:embed="rId4"/>
          <a:stretch/>
        </p:blipFill>
        <p:spPr>
          <a:xfrm>
            <a:off x="571500" y="2171857"/>
            <a:ext cx="6858000" cy="3085785"/>
          </a:xfrm>
          <a:prstGeom prst="rect">
            <a:avLst/>
          </a:prstGeom>
        </p:spPr>
      </p:pic>
      <p:sp>
        <p:nvSpPr>
          <p:cNvPr id="8" name="text">
            <a:extLst>
              <a:ext uri="{FF2B5EF4-FFF2-40B4-BE49-F238E27FC236}">
                <a16:creationId xmlns:a16="http://schemas.microsoft.com/office/drawing/2014/main" id="{B12DB038-985F-407B-87C6-BEC67B3402DE}"/>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9D6887F4-58E6-4810-AC5C-906DEAFEDC4D}"/>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The area chart counts how many posts appear in each month.</a:t>
            </a:r>
          </a:p>
        </p:txBody>
      </p:sp>
      <p:sp>
        <p:nvSpPr>
          <p:cNvPr id="10" name="text">
            <a:extLst>
              <a:ext uri="{FF2B5EF4-FFF2-40B4-BE49-F238E27FC236}">
                <a16:creationId xmlns:a16="http://schemas.microsoft.com/office/drawing/2014/main" id="{9CE2A1C8-008A-4B63-9C74-F699040489D2}"/>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7CF0EEC9-D763-4EE4-96D1-F5C105A09C71}"/>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Most full months contain roughly 2,300 to 2,600 posts. The first and last months have fewer records.</a:t>
            </a:r>
          </a:p>
        </p:txBody>
      </p:sp>
      <p:sp>
        <p:nvSpPr>
          <p:cNvPr id="12" name="text">
            <a:extLst>
              <a:ext uri="{FF2B5EF4-FFF2-40B4-BE49-F238E27FC236}">
                <a16:creationId xmlns:a16="http://schemas.microsoft.com/office/drawing/2014/main" id="{4FFB04AD-6446-4DCB-BCBC-1D0DF8598BD8}"/>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559ADE0B-0866-42D0-B352-89DD478D09F8}"/>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fontScale="93275"/>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Monthly post counts are similar across most full months. The edge months may cover only part of a month.</a:t>
            </a:r>
          </a:p>
        </p:txBody>
      </p:sp>
    </p:spTree>
    <p:extLst>
      <p:ext uri="{BB962C8B-B14F-4D97-AF65-F5344CB8AC3E}">
        <p14:creationId xmlns:p14="http://schemas.microsoft.com/office/powerpoint/2010/main" val="967143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E60847C-100C-4FD6-BAB2-6665A87258D5}"/>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673394DB-1085-49F8-8E2B-464CE03BA431}"/>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3BCA567B-B0EA-4F99-834A-836EDA5BED99}"/>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Plot 14 of 16 - Caption length and total interactions</a:t>
            </a:r>
          </a:p>
        </p:txBody>
      </p:sp>
      <p:sp>
        <p:nvSpPr>
          <p:cNvPr id="89"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HEXBIN CHART</a:t>
            </a:r>
          </a:p>
        </p:txBody>
      </p:sp>
      <p:sp>
        <p:nvSpPr>
          <p:cNvPr id="4" name="accent-line">
            <a:extLst>
              <a:ext uri="{FF2B5EF4-FFF2-40B4-BE49-F238E27FC236}">
                <a16:creationId xmlns:a16="http://schemas.microsoft.com/office/drawing/2014/main" id="{64150247-4238-407E-B8DA-F93E443A73D1}"/>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3B9D0FF0-502A-455D-930B-D6FE9C88D7C8}"/>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A7033A84-399B-4124-95AB-A40CC82C6DD4}"/>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30</a:t>
            </a:r>
          </a:p>
        </p:txBody>
      </p:sp>
      <p:pic>
        <p:nvPicPr>
          <p:cNvPr id="7" name="Picture 6">
            <a:extLst>
              <a:ext uri="{FF2B5EF4-FFF2-40B4-BE49-F238E27FC236}">
                <a16:creationId xmlns:a16="http://schemas.microsoft.com/office/drawing/2014/main" id="{5D563EE6-21A9-4C9D-B1F0-DB5EF045384A}"/>
              </a:ext>
            </a:extLst>
          </p:cNvPr>
          <p:cNvPicPr>
            <a:picLocks noChangeAspect="1"/>
          </p:cNvPicPr>
          <p:nvPr/>
        </p:nvPicPr>
        <p:blipFill>
          <a:blip r:embed="rId4"/>
          <a:stretch/>
        </p:blipFill>
        <p:spPr>
          <a:xfrm>
            <a:off x="737784" y="1476375"/>
            <a:ext cx="6525432" cy="4476750"/>
          </a:xfrm>
          <a:prstGeom prst="rect">
            <a:avLst/>
          </a:prstGeom>
        </p:spPr>
      </p:pic>
      <p:sp>
        <p:nvSpPr>
          <p:cNvPr id="8" name="text">
            <a:extLst>
              <a:ext uri="{FF2B5EF4-FFF2-40B4-BE49-F238E27FC236}">
                <a16:creationId xmlns:a16="http://schemas.microsoft.com/office/drawing/2014/main" id="{EB44C3C7-2FE8-4AB8-84CE-97C75205E9E4}"/>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752C30DA-D1FC-4105-8CA5-13EB2E0AEC8D}"/>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A hexbin chart groups posts with similar caption lengths and interaction totals. Darker or stronger color means more posts in that area.</a:t>
            </a:r>
          </a:p>
        </p:txBody>
      </p:sp>
      <p:sp>
        <p:nvSpPr>
          <p:cNvPr id="10" name="text">
            <a:extLst>
              <a:ext uri="{FF2B5EF4-FFF2-40B4-BE49-F238E27FC236}">
                <a16:creationId xmlns:a16="http://schemas.microsoft.com/office/drawing/2014/main" id="{BBF7860E-2769-437F-A836-78BCBD8599A6}"/>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8A0A8E62-3320-4238-9FBC-2366DF9B9442}"/>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Posts cluster in lower interaction ranges across a range of caption lengths. High totals are less common.</a:t>
            </a:r>
          </a:p>
        </p:txBody>
      </p:sp>
      <p:sp>
        <p:nvSpPr>
          <p:cNvPr id="12" name="text">
            <a:extLst>
              <a:ext uri="{FF2B5EF4-FFF2-40B4-BE49-F238E27FC236}">
                <a16:creationId xmlns:a16="http://schemas.microsoft.com/office/drawing/2014/main" id="{8BC8887A-6EEA-48DA-90D8-D01EEEDD3870}"/>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84589B4D-D33D-408C-9159-FDB9C4C4B8EB}"/>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The chart does not show a clear simple link between longer captions and more interactions.</a:t>
            </a:r>
          </a:p>
        </p:txBody>
      </p:sp>
    </p:spTree>
    <p:extLst>
      <p:ext uri="{BB962C8B-B14F-4D97-AF65-F5344CB8AC3E}">
        <p14:creationId xmlns:p14="http://schemas.microsoft.com/office/powerpoint/2010/main" val="1407814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E58B62B-DEED-4006-A1E6-BE829AE1F94B}"/>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5203D4BB-96FE-4B01-B172-2053BB5265EC}"/>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956F6033-AA69-44BD-A89E-EA8B9B9DDA0B}"/>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Plot 15 of 16 - Monthly posts by media type</a:t>
            </a:r>
          </a:p>
        </p:txBody>
      </p:sp>
      <p:sp>
        <p:nvSpPr>
          <p:cNvPr id="90"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STACKED AREA CHART</a:t>
            </a:r>
          </a:p>
        </p:txBody>
      </p:sp>
      <p:sp>
        <p:nvSpPr>
          <p:cNvPr id="4" name="accent-line">
            <a:extLst>
              <a:ext uri="{FF2B5EF4-FFF2-40B4-BE49-F238E27FC236}">
                <a16:creationId xmlns:a16="http://schemas.microsoft.com/office/drawing/2014/main" id="{39CB110B-78B2-4D79-AA93-9AB696CCE6BB}"/>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6D34A972-712D-43B8-8956-8FB793A529C6}"/>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C17DE520-2B21-4140-BF76-960A30D21037}"/>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31</a:t>
            </a:r>
          </a:p>
        </p:txBody>
      </p:sp>
      <p:pic>
        <p:nvPicPr>
          <p:cNvPr id="7" name="Picture 6">
            <a:extLst>
              <a:ext uri="{FF2B5EF4-FFF2-40B4-BE49-F238E27FC236}">
                <a16:creationId xmlns:a16="http://schemas.microsoft.com/office/drawing/2014/main" id="{CC496CB6-C36E-4D80-A354-80F3A323CA6D}"/>
              </a:ext>
            </a:extLst>
          </p:cNvPr>
          <p:cNvPicPr>
            <a:picLocks noChangeAspect="1"/>
          </p:cNvPicPr>
          <p:nvPr/>
        </p:nvPicPr>
        <p:blipFill>
          <a:blip r:embed="rId4"/>
          <a:stretch/>
        </p:blipFill>
        <p:spPr>
          <a:xfrm>
            <a:off x="571500" y="1856981"/>
            <a:ext cx="6858000" cy="3715537"/>
          </a:xfrm>
          <a:prstGeom prst="rect">
            <a:avLst/>
          </a:prstGeom>
        </p:spPr>
      </p:pic>
      <p:sp>
        <p:nvSpPr>
          <p:cNvPr id="8" name="text">
            <a:extLst>
              <a:ext uri="{FF2B5EF4-FFF2-40B4-BE49-F238E27FC236}">
                <a16:creationId xmlns:a16="http://schemas.microsoft.com/office/drawing/2014/main" id="{422CD960-BE69-4456-B708-17583DC784A4}"/>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24607F57-1734-435C-BF55-537969B6962F}"/>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The stacked area chart compares monthly post counts for carousel, image, and reel formats.</a:t>
            </a:r>
          </a:p>
        </p:txBody>
      </p:sp>
      <p:sp>
        <p:nvSpPr>
          <p:cNvPr id="10" name="text">
            <a:extLst>
              <a:ext uri="{FF2B5EF4-FFF2-40B4-BE49-F238E27FC236}">
                <a16:creationId xmlns:a16="http://schemas.microsoft.com/office/drawing/2014/main" id="{96967344-33E2-4BBF-9B12-09EB4193915F}"/>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712785E4-92A9-43D6-B3BA-DD49C2EE96D4}"/>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Image posts are the largest group each month, carousels are next, and reels are fewer.</a:t>
            </a:r>
          </a:p>
        </p:txBody>
      </p:sp>
      <p:sp>
        <p:nvSpPr>
          <p:cNvPr id="12" name="text">
            <a:extLst>
              <a:ext uri="{FF2B5EF4-FFF2-40B4-BE49-F238E27FC236}">
                <a16:creationId xmlns:a16="http://schemas.microsoft.com/office/drawing/2014/main" id="{ED689D53-1207-43AF-A184-1A4FCD9910C7}"/>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836CDDB9-88B4-4817-9A8C-3EE7345E2671}"/>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The mix of formats stays similar over time, with images most common.</a:t>
            </a:r>
          </a:p>
        </p:txBody>
      </p:sp>
    </p:spTree>
    <p:extLst>
      <p:ext uri="{BB962C8B-B14F-4D97-AF65-F5344CB8AC3E}">
        <p14:creationId xmlns:p14="http://schemas.microsoft.com/office/powerpoint/2010/main" val="700973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D7EA798-6161-449B-83E6-4CC5E46609B0}"/>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2E29A0E7-A598-4D35-AE3D-ADB3D78894AD}"/>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EDA AND VISUALS</a:t>
            </a:r>
          </a:p>
        </p:txBody>
      </p:sp>
      <p:sp>
        <p:nvSpPr>
          <p:cNvPr id="3" name="text">
            <a:extLst>
              <a:ext uri="{FF2B5EF4-FFF2-40B4-BE49-F238E27FC236}">
                <a16:creationId xmlns:a16="http://schemas.microsoft.com/office/drawing/2014/main" id="{1A39A65B-4952-4F10-8203-C30CEA874B1B}"/>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300" b="1">
                <a:solidFill>
                  <a:srgbClr val="23223E"/>
                </a:solidFill>
                <a:latin typeface="Arial"/>
                <a:ea typeface="Arial"/>
                <a:cs typeface="Arial"/>
              </a:defRPr>
            </a:defPPr>
          </a:lstStyle>
          <a:p>
            <a:pPr algn="l">
              <a:lnSpc>
                <a:spcPct val="100000"/>
              </a:lnSpc>
              <a:buNone/>
              <a:defRPr sz="2300" b="1">
                <a:solidFill>
                  <a:srgbClr val="23223E"/>
                </a:solidFill>
                <a:latin typeface="Arial"/>
                <a:ea typeface="Arial"/>
                <a:cs typeface="Arial"/>
              </a:defRPr>
            </a:pPr>
            <a:r>
              <a:rPr sz="2300" b="1">
                <a:solidFill>
                  <a:srgbClr val="23223E"/>
                </a:solidFill>
                <a:latin typeface="Arial"/>
                <a:ea typeface="Arial"/>
                <a:cs typeface="Arial"/>
              </a:rPr>
              <a:t>Plot 16 of 16 - Distributions of likes, comments, shares, and saves</a:t>
            </a:r>
          </a:p>
        </p:txBody>
      </p:sp>
      <p:sp>
        <p:nvSpPr>
          <p:cNvPr id="92" name="Chart type"/>
          <p:cNvSpPr txBox="1"/>
          <p:nvPr/>
        </p:nvSpPr>
        <p:spPr>
          <a:xfrm>
            <a:off x="723900" y="975000"/>
            <a:ext cx="10668000" cy="300000"/>
          </a:xfrm>
          <a:prstGeom prst="rect">
            <a:avLst/>
          </a:prstGeom>
          <a:noFill/>
        </p:spPr>
        <p:txBody>
          <a:bodyPr wrap="square" lIns="0" tIns="0" rIns="0" bIns="0" anchor="t">
            <a:noAutofit/>
          </a:bodyPr>
          <a:lstStyle/>
          <a:p>
            <a:pPr algn="l"/>
            <a:r>
              <a:rPr lang="en-US" sz="1800" b="1" dirty="0">
                <a:solidFill>
                  <a:srgbClr val="C83E79"/>
                </a:solidFill>
                <a:latin typeface="Arial"/>
                <a:cs typeface="Arial"/>
              </a:rPr>
              <a:t>CHART TYPE: HISTOGRAMS (4 PANELS)</a:t>
            </a:r>
          </a:p>
        </p:txBody>
      </p:sp>
      <p:sp>
        <p:nvSpPr>
          <p:cNvPr id="4" name="accent-line">
            <a:extLst>
              <a:ext uri="{FF2B5EF4-FFF2-40B4-BE49-F238E27FC236}">
                <a16:creationId xmlns:a16="http://schemas.microsoft.com/office/drawing/2014/main" id="{EFBBDA11-DD4B-4D97-9221-B79E86AD7BF6}"/>
              </a:ext>
            </a:extLst>
          </p:cNvPr>
          <p:cNvSpPr>
            <a:spLocks noGrp="1"/>
          </p:cNvSpPr>
          <p:nvPr/>
        </p:nvSpPr>
        <p:spPr>
          <a:xfrm>
            <a:off x="723900" y="13350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23704A63-3C07-4E84-984F-7EC4C0347D5B}"/>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E00EA652-77F6-4A7C-A2BF-E55025C870AD}"/>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32</a:t>
            </a:r>
          </a:p>
        </p:txBody>
      </p:sp>
      <p:pic>
        <p:nvPicPr>
          <p:cNvPr id="7" name="Picture 6">
            <a:extLst>
              <a:ext uri="{FF2B5EF4-FFF2-40B4-BE49-F238E27FC236}">
                <a16:creationId xmlns:a16="http://schemas.microsoft.com/office/drawing/2014/main" id="{78819998-353E-4658-8A4F-AA9662A49741}"/>
              </a:ext>
            </a:extLst>
          </p:cNvPr>
          <p:cNvPicPr>
            <a:picLocks noChangeAspect="1"/>
          </p:cNvPicPr>
          <p:nvPr/>
        </p:nvPicPr>
        <p:blipFill>
          <a:blip r:embed="rId4"/>
          <a:stretch/>
        </p:blipFill>
        <p:spPr>
          <a:xfrm>
            <a:off x="627334" y="1476375"/>
            <a:ext cx="6746332" cy="4476750"/>
          </a:xfrm>
          <a:prstGeom prst="rect">
            <a:avLst/>
          </a:prstGeom>
        </p:spPr>
      </p:pic>
      <p:sp>
        <p:nvSpPr>
          <p:cNvPr id="8" name="text">
            <a:extLst>
              <a:ext uri="{FF2B5EF4-FFF2-40B4-BE49-F238E27FC236}">
                <a16:creationId xmlns:a16="http://schemas.microsoft.com/office/drawing/2014/main" id="{66915CED-505D-4B25-93C1-5046F463D4B9}"/>
              </a:ext>
            </a:extLst>
          </p:cNvPr>
          <p:cNvSpPr>
            <a:spLocks noGrp="1"/>
          </p:cNvSpPr>
          <p:nvPr/>
        </p:nvSpPr>
        <p:spPr>
          <a:xfrm>
            <a:off x="7829550" y="16192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THIS CHART SHOWS</a:t>
            </a:r>
          </a:p>
        </p:txBody>
      </p:sp>
      <p:sp>
        <p:nvSpPr>
          <p:cNvPr id="9" name="text">
            <a:extLst>
              <a:ext uri="{FF2B5EF4-FFF2-40B4-BE49-F238E27FC236}">
                <a16:creationId xmlns:a16="http://schemas.microsoft.com/office/drawing/2014/main" id="{008CBDDD-4D23-45B6-8AC4-99A8F815DE79}"/>
              </a:ext>
            </a:extLst>
          </p:cNvPr>
          <p:cNvSpPr>
            <a:spLocks noGrp="1"/>
          </p:cNvSpPr>
          <p:nvPr/>
        </p:nvSpPr>
        <p:spPr>
          <a:xfrm>
            <a:off x="7829550" y="1952625"/>
            <a:ext cx="3619500" cy="10858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This single figure contains four histograms. Each panel shows how one interaction measure is distributed.</a:t>
            </a:r>
          </a:p>
        </p:txBody>
      </p:sp>
      <p:sp>
        <p:nvSpPr>
          <p:cNvPr id="10" name="text">
            <a:extLst>
              <a:ext uri="{FF2B5EF4-FFF2-40B4-BE49-F238E27FC236}">
                <a16:creationId xmlns:a16="http://schemas.microsoft.com/office/drawing/2014/main" id="{813154DD-1F4C-4582-B1F2-0F200465E020}"/>
              </a:ext>
            </a:extLst>
          </p:cNvPr>
          <p:cNvSpPr>
            <a:spLocks noGrp="1"/>
          </p:cNvSpPr>
          <p:nvPr/>
        </p:nvSpPr>
        <p:spPr>
          <a:xfrm>
            <a:off x="7829550" y="3181350"/>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WHAT WE SEE</a:t>
            </a:r>
          </a:p>
        </p:txBody>
      </p:sp>
      <p:sp>
        <p:nvSpPr>
          <p:cNvPr id="11" name="text">
            <a:extLst>
              <a:ext uri="{FF2B5EF4-FFF2-40B4-BE49-F238E27FC236}">
                <a16:creationId xmlns:a16="http://schemas.microsoft.com/office/drawing/2014/main" id="{94EA62CE-0F80-46A8-95AD-BF72E07B2448}"/>
              </a:ext>
            </a:extLst>
          </p:cNvPr>
          <p:cNvSpPr>
            <a:spLocks noGrp="1"/>
          </p:cNvSpPr>
          <p:nvPr/>
        </p:nvSpPr>
        <p:spPr>
          <a:xfrm>
            <a:off x="7829550" y="3505200"/>
            <a:ext cx="3619500" cy="1047750"/>
          </a:xfrm>
          <a:prstGeom prst="rect">
            <a:avLst/>
          </a:prstGeom>
          <a:noFill/>
          <a:ln w="0">
            <a:noFill/>
            <a:prstDash val="solid"/>
          </a:ln>
        </p:spPr>
        <p:txBody>
          <a:bodyPr lIns="0" tIns="0" rIns="0" bIns="0" anchor="t">
            <a:normAutofit/>
          </a:bodyPr>
          <a:lstStyle>
            <a:defPPr algn="l">
              <a:defRPr sz="1575" b="0">
                <a:solidFill>
                  <a:srgbClr val="34364F"/>
                </a:solidFill>
                <a:latin typeface="Arial"/>
                <a:ea typeface="Arial"/>
                <a:cs typeface="Arial"/>
              </a:defRPr>
            </a:defPPr>
          </a:lstStyle>
          <a:p>
            <a:pPr algn="l">
              <a:lnSpc>
                <a:spcPct val="106000"/>
              </a:lnSpc>
              <a:buNone/>
              <a:defRPr sz="1575" b="0">
                <a:solidFill>
                  <a:srgbClr val="34364F"/>
                </a:solidFill>
                <a:latin typeface="Arial"/>
                <a:ea typeface="Arial"/>
                <a:cs typeface="Arial"/>
              </a:defRPr>
            </a:pPr>
            <a:r>
              <a:rPr sz="1575" b="0">
                <a:solidFill>
                  <a:srgbClr val="34364F"/>
                </a:solidFill>
                <a:latin typeface="Arial"/>
                <a:ea typeface="Arial"/>
                <a:cs typeface="Arial"/>
              </a:rPr>
              <a:t>For all four measures, many posts have lower counts and fewer posts have very high counts.</a:t>
            </a:r>
          </a:p>
        </p:txBody>
      </p:sp>
      <p:sp>
        <p:nvSpPr>
          <p:cNvPr id="12" name="text">
            <a:extLst>
              <a:ext uri="{FF2B5EF4-FFF2-40B4-BE49-F238E27FC236}">
                <a16:creationId xmlns:a16="http://schemas.microsoft.com/office/drawing/2014/main" id="{32402F6A-3400-4E0E-B99E-6671CFA58AEF}"/>
              </a:ext>
            </a:extLst>
          </p:cNvPr>
          <p:cNvSpPr>
            <a:spLocks noGrp="1"/>
          </p:cNvSpPr>
          <p:nvPr/>
        </p:nvSpPr>
        <p:spPr>
          <a:xfrm>
            <a:off x="7829550" y="4733925"/>
            <a:ext cx="3619500" cy="247650"/>
          </a:xfrm>
          <a:prstGeom prst="rect">
            <a:avLst/>
          </a:prstGeom>
          <a:noFill/>
          <a:ln w="0">
            <a:noFill/>
            <a:prstDash val="solid"/>
          </a:ln>
        </p:spPr>
        <p:txBody>
          <a:bodyPr lIns="0" tIns="0" rIns="0" bIns="0" anchor="t">
            <a:normAutofit/>
          </a:bodyPr>
          <a:lstStyle>
            <a:defPPr algn="l">
              <a:defRPr sz="1125" b="1">
                <a:solidFill>
                  <a:srgbClr val="C83E79"/>
                </a:solidFill>
                <a:latin typeface="Arial"/>
                <a:ea typeface="Arial"/>
                <a:cs typeface="Arial"/>
              </a:defRPr>
            </a:defPPr>
          </a:lstStyle>
          <a:p>
            <a:pPr algn="l">
              <a:lnSpc>
                <a:spcPct val="104000"/>
              </a:lnSpc>
              <a:buNone/>
              <a:defRPr sz="1125" b="1">
                <a:solidFill>
                  <a:srgbClr val="C83E79"/>
                </a:solidFill>
                <a:latin typeface="Arial"/>
                <a:ea typeface="Arial"/>
                <a:cs typeface="Arial"/>
              </a:defRPr>
            </a:pPr>
            <a:r>
              <a:rPr sz="1125" b="1">
                <a:solidFill>
                  <a:srgbClr val="C83E79"/>
                </a:solidFill>
                <a:latin typeface="Arial"/>
                <a:ea typeface="Arial"/>
                <a:cs typeface="Arial"/>
              </a:rPr>
              <a:t>SIMPLE TAKEAWAY</a:t>
            </a:r>
          </a:p>
        </p:txBody>
      </p:sp>
      <p:sp>
        <p:nvSpPr>
          <p:cNvPr id="13" name="text">
            <a:extLst>
              <a:ext uri="{FF2B5EF4-FFF2-40B4-BE49-F238E27FC236}">
                <a16:creationId xmlns:a16="http://schemas.microsoft.com/office/drawing/2014/main" id="{A17D6DBB-D758-4113-B7DC-D5AB89DA3506}"/>
              </a:ext>
            </a:extLst>
          </p:cNvPr>
          <p:cNvSpPr>
            <a:spLocks noGrp="1"/>
          </p:cNvSpPr>
          <p:nvPr/>
        </p:nvSpPr>
        <p:spPr>
          <a:xfrm>
            <a:off x="7829550" y="5057775"/>
            <a:ext cx="3619500" cy="952500"/>
          </a:xfrm>
          <a:prstGeom prst="rect">
            <a:avLst/>
          </a:prstGeom>
          <a:noFill/>
          <a:ln w="0">
            <a:noFill/>
            <a:prstDash val="solid"/>
          </a:ln>
        </p:spPr>
        <p:txBody>
          <a:bodyPr lIns="0" tIns="0" rIns="0" bIns="0" anchor="t">
            <a:normAutofit/>
          </a:bodyPr>
          <a:lstStyle>
            <a:defPPr algn="l">
              <a:defRPr sz="1650" b="1">
                <a:solidFill>
                  <a:srgbClr val="23223E"/>
                </a:solidFill>
                <a:latin typeface="Arial"/>
                <a:ea typeface="Arial"/>
                <a:cs typeface="Arial"/>
              </a:defRPr>
            </a:defPPr>
          </a:lstStyle>
          <a:p>
            <a:pPr algn="l">
              <a:lnSpc>
                <a:spcPct val="105000"/>
              </a:lnSpc>
              <a:buNone/>
              <a:defRPr sz="1650" b="1">
                <a:solidFill>
                  <a:srgbClr val="23223E"/>
                </a:solidFill>
                <a:latin typeface="Arial"/>
                <a:ea typeface="Arial"/>
                <a:cs typeface="Arial"/>
              </a:defRPr>
            </a:pPr>
            <a:r>
              <a:rPr sz="1650" b="1">
                <a:solidFill>
                  <a:srgbClr val="23223E"/>
                </a:solidFill>
                <a:latin typeface="Arial"/>
                <a:ea typeface="Arial"/>
                <a:cs typeface="Arial"/>
              </a:rPr>
              <a:t>Likes, comments, shares, and saves all have uneven, right-skewed distributions.</a:t>
            </a:r>
          </a:p>
        </p:txBody>
      </p:sp>
    </p:spTree>
    <p:extLst>
      <p:ext uri="{BB962C8B-B14F-4D97-AF65-F5344CB8AC3E}">
        <p14:creationId xmlns:p14="http://schemas.microsoft.com/office/powerpoint/2010/main" val="18274940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B913140-425C-4816-A392-17D9367A15D5}"/>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4D5906F6-7BBC-4B29-8819-55F57857AC51}"/>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INSIGHTS</a:t>
            </a:r>
          </a:p>
        </p:txBody>
      </p:sp>
      <p:sp>
        <p:nvSpPr>
          <p:cNvPr id="3" name="text">
            <a:extLst>
              <a:ext uri="{FF2B5EF4-FFF2-40B4-BE49-F238E27FC236}">
                <a16:creationId xmlns:a16="http://schemas.microsoft.com/office/drawing/2014/main" id="{E51F209D-E296-4914-BAAB-16241B831CA3}"/>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Six key insights  1 to 3</a:t>
            </a:r>
          </a:p>
        </p:txBody>
      </p:sp>
      <p:sp>
        <p:nvSpPr>
          <p:cNvPr id="4" name="accent-line">
            <a:extLst>
              <a:ext uri="{FF2B5EF4-FFF2-40B4-BE49-F238E27FC236}">
                <a16:creationId xmlns:a16="http://schemas.microsoft.com/office/drawing/2014/main" id="{041922E7-C355-441E-B8DA-6F277F3901B7}"/>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FA9E370C-7F90-4C7B-BAB4-75C52482503A}"/>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3024DF90-1C5A-44B4-A0D0-2FF273BBD58D}"/>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33</a:t>
            </a:r>
          </a:p>
        </p:txBody>
      </p:sp>
      <p:sp>
        <p:nvSpPr>
          <p:cNvPr id="7" name="text">
            <a:extLst>
              <a:ext uri="{FF2B5EF4-FFF2-40B4-BE49-F238E27FC236}">
                <a16:creationId xmlns:a16="http://schemas.microsoft.com/office/drawing/2014/main" id="{FBC3B19C-D3E2-42EC-9722-715E215B366A}"/>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1  Average interactions are close across formats</a:t>
            </a:r>
          </a:p>
        </p:txBody>
      </p:sp>
      <p:sp>
        <p:nvSpPr>
          <p:cNvPr id="8" name="text">
            <a:extLst>
              <a:ext uri="{FF2B5EF4-FFF2-40B4-BE49-F238E27FC236}">
                <a16:creationId xmlns:a16="http://schemas.microsoft.com/office/drawing/2014/main" id="{D40369B7-3EC2-430B-B5EE-EE62A0999404}"/>
              </a:ext>
            </a:extLst>
          </p:cNvPr>
          <p:cNvSpPr>
            <a:spLocks noGrp="1"/>
          </p:cNvSpPr>
          <p:nvPr/>
        </p:nvSpPr>
        <p:spPr>
          <a:xfrm>
            <a:off x="781050" y="1943100"/>
            <a:ext cx="10477500" cy="6286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Image posts average 355.53 total interactions, carousels 351.86, and reels 351.06.</a:t>
            </a:r>
          </a:p>
        </p:txBody>
      </p:sp>
      <p:sp>
        <p:nvSpPr>
          <p:cNvPr id="9" name="text">
            <a:extLst>
              <a:ext uri="{FF2B5EF4-FFF2-40B4-BE49-F238E27FC236}">
                <a16:creationId xmlns:a16="http://schemas.microsoft.com/office/drawing/2014/main" id="{312B03CD-9554-47B6-AD76-C8B4D79AD1BF}"/>
              </a:ext>
            </a:extLst>
          </p:cNvPr>
          <p:cNvSpPr>
            <a:spLocks noGrp="1"/>
          </p:cNvSpPr>
          <p:nvPr/>
        </p:nvSpPr>
        <p:spPr>
          <a:xfrm>
            <a:off x="781050" y="27146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2  Category engagement rates are close</a:t>
            </a:r>
          </a:p>
        </p:txBody>
      </p:sp>
      <p:sp>
        <p:nvSpPr>
          <p:cNvPr id="10" name="text">
            <a:extLst>
              <a:ext uri="{FF2B5EF4-FFF2-40B4-BE49-F238E27FC236}">
                <a16:creationId xmlns:a16="http://schemas.microsoft.com/office/drawing/2014/main" id="{AE4AE1C5-4313-4FA3-B792-FF197FEBF727}"/>
              </a:ext>
            </a:extLst>
          </p:cNvPr>
          <p:cNvSpPr>
            <a:spLocks noGrp="1"/>
          </p:cNvSpPr>
          <p:nvPr/>
        </p:nvSpPr>
        <p:spPr>
          <a:xfrm>
            <a:off x="781050" y="3076575"/>
            <a:ext cx="10477500" cy="5715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Music is highest at about 4.28%. Photography is lowest at about 4.15%.</a:t>
            </a:r>
          </a:p>
        </p:txBody>
      </p:sp>
      <p:sp>
        <p:nvSpPr>
          <p:cNvPr id="11" name="text">
            <a:extLst>
              <a:ext uri="{FF2B5EF4-FFF2-40B4-BE49-F238E27FC236}">
                <a16:creationId xmlns:a16="http://schemas.microsoft.com/office/drawing/2014/main" id="{489805BB-8B4B-4BAC-9CCC-CCBFDA142A58}"/>
              </a:ext>
            </a:extLst>
          </p:cNvPr>
          <p:cNvSpPr>
            <a:spLocks noGrp="1"/>
          </p:cNvSpPr>
          <p:nvPr/>
        </p:nvSpPr>
        <p:spPr>
          <a:xfrm>
            <a:off x="781050" y="37909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3  Creators make up most posts</a:t>
            </a:r>
          </a:p>
        </p:txBody>
      </p:sp>
      <p:sp>
        <p:nvSpPr>
          <p:cNvPr id="12" name="text">
            <a:extLst>
              <a:ext uri="{FF2B5EF4-FFF2-40B4-BE49-F238E27FC236}">
                <a16:creationId xmlns:a16="http://schemas.microsoft.com/office/drawing/2014/main" id="{94AD2209-5D5C-45CD-B67B-BB77DAE09E3D}"/>
              </a:ext>
            </a:extLst>
          </p:cNvPr>
          <p:cNvSpPr>
            <a:spLocks noGrp="1"/>
          </p:cNvSpPr>
          <p:nvPr/>
        </p:nvSpPr>
        <p:spPr>
          <a:xfrm>
            <a:off x="781050" y="4152900"/>
            <a:ext cx="10477500" cy="6286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Creators account for 20,944 posts, about 69.8%. Brands account for 9,055, about 30.2%.</a:t>
            </a:r>
          </a:p>
        </p:txBody>
      </p:sp>
      <p:sp>
        <p:nvSpPr>
          <p:cNvPr id="13" name="text">
            <a:extLst>
              <a:ext uri="{FF2B5EF4-FFF2-40B4-BE49-F238E27FC236}">
                <a16:creationId xmlns:a16="http://schemas.microsoft.com/office/drawing/2014/main" id="{0F7B838A-CDD6-4690-A4B9-544B8F63F67D}"/>
              </a:ext>
            </a:extLst>
          </p:cNvPr>
          <p:cNvSpPr>
            <a:spLocks noGrp="1"/>
          </p:cNvSpPr>
          <p:nvPr/>
        </p:nvSpPr>
        <p:spPr>
          <a:xfrm>
            <a:off x="781050" y="49244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this means</a:t>
            </a:r>
          </a:p>
        </p:txBody>
      </p:sp>
      <p:sp>
        <p:nvSpPr>
          <p:cNvPr id="14" name="text">
            <a:extLst>
              <a:ext uri="{FF2B5EF4-FFF2-40B4-BE49-F238E27FC236}">
                <a16:creationId xmlns:a16="http://schemas.microsoft.com/office/drawing/2014/main" id="{4302E8BC-3954-45D8-89FD-E1AD57AE70EB}"/>
              </a:ext>
            </a:extLst>
          </p:cNvPr>
          <p:cNvSpPr>
            <a:spLocks noGrp="1"/>
          </p:cNvSpPr>
          <p:nvPr/>
        </p:nvSpPr>
        <p:spPr>
          <a:xfrm>
            <a:off x="781050" y="5286375"/>
            <a:ext cx="10477500" cy="5715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 dataset has a larger creator sample, so the overall patterns reflect more creator posts.</a:t>
            </a:r>
          </a:p>
        </p:txBody>
      </p:sp>
    </p:spTree>
    <p:extLst>
      <p:ext uri="{BB962C8B-B14F-4D97-AF65-F5344CB8AC3E}">
        <p14:creationId xmlns:p14="http://schemas.microsoft.com/office/powerpoint/2010/main" val="634053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8EC43C1-0704-4B19-9C33-9843B27AD5C2}"/>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E1770C86-AA37-46E2-BD8F-2B61E37EB39D}"/>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INSIGHTS</a:t>
            </a:r>
          </a:p>
        </p:txBody>
      </p:sp>
      <p:sp>
        <p:nvSpPr>
          <p:cNvPr id="3" name="text">
            <a:extLst>
              <a:ext uri="{FF2B5EF4-FFF2-40B4-BE49-F238E27FC236}">
                <a16:creationId xmlns:a16="http://schemas.microsoft.com/office/drawing/2014/main" id="{7EBA8B13-92B0-4FC4-9733-61147843F594}"/>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Six key insights  4 to 6</a:t>
            </a:r>
          </a:p>
        </p:txBody>
      </p:sp>
      <p:sp>
        <p:nvSpPr>
          <p:cNvPr id="4" name="accent-line">
            <a:extLst>
              <a:ext uri="{FF2B5EF4-FFF2-40B4-BE49-F238E27FC236}">
                <a16:creationId xmlns:a16="http://schemas.microsoft.com/office/drawing/2014/main" id="{5DC10E31-90B6-4650-9248-58A6FBCE5011}"/>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F7035CF9-F38B-4FBA-8463-7D079BE122BE}"/>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3BC89EA5-12F9-402B-962A-EB2AC1770F65}"/>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34</a:t>
            </a:r>
          </a:p>
        </p:txBody>
      </p:sp>
      <p:sp>
        <p:nvSpPr>
          <p:cNvPr id="7" name="text">
            <a:extLst>
              <a:ext uri="{FF2B5EF4-FFF2-40B4-BE49-F238E27FC236}">
                <a16:creationId xmlns:a16="http://schemas.microsoft.com/office/drawing/2014/main" id="{7E014B7D-4263-4FC6-B1E0-3167E1006BAD}"/>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4  Account and media group averages are close</a:t>
            </a:r>
          </a:p>
        </p:txBody>
      </p:sp>
      <p:sp>
        <p:nvSpPr>
          <p:cNvPr id="8" name="text">
            <a:extLst>
              <a:ext uri="{FF2B5EF4-FFF2-40B4-BE49-F238E27FC236}">
                <a16:creationId xmlns:a16="http://schemas.microsoft.com/office/drawing/2014/main" id="{58714730-6559-4298-BE22-347B9CA884C6}"/>
              </a:ext>
            </a:extLst>
          </p:cNvPr>
          <p:cNvSpPr>
            <a:spLocks noGrp="1"/>
          </p:cNvSpPr>
          <p:nvPr/>
        </p:nvSpPr>
        <p:spPr>
          <a:xfrm>
            <a:off x="781050" y="1943100"/>
            <a:ext cx="10477500" cy="5905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Brand image posts have the highest average, 361.31. Creator reels have the lowest, 346.84.</a:t>
            </a:r>
          </a:p>
        </p:txBody>
      </p:sp>
      <p:sp>
        <p:nvSpPr>
          <p:cNvPr id="9" name="text">
            <a:extLst>
              <a:ext uri="{FF2B5EF4-FFF2-40B4-BE49-F238E27FC236}">
                <a16:creationId xmlns:a16="http://schemas.microsoft.com/office/drawing/2014/main" id="{050F9FC5-1CE3-4639-B7EF-56C23B57E6AE}"/>
              </a:ext>
            </a:extLst>
          </p:cNvPr>
          <p:cNvSpPr>
            <a:spLocks noGrp="1"/>
          </p:cNvSpPr>
          <p:nvPr/>
        </p:nvSpPr>
        <p:spPr>
          <a:xfrm>
            <a:off x="781050" y="26765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5  Call-to-action averages are very similar</a:t>
            </a:r>
          </a:p>
        </p:txBody>
      </p:sp>
      <p:sp>
        <p:nvSpPr>
          <p:cNvPr id="10" name="text">
            <a:extLst>
              <a:ext uri="{FF2B5EF4-FFF2-40B4-BE49-F238E27FC236}">
                <a16:creationId xmlns:a16="http://schemas.microsoft.com/office/drawing/2014/main" id="{75A1EC30-0DB1-4383-8F88-E6CF0F710AAB}"/>
              </a:ext>
            </a:extLst>
          </p:cNvPr>
          <p:cNvSpPr>
            <a:spLocks noGrp="1"/>
          </p:cNvSpPr>
          <p:nvPr/>
        </p:nvSpPr>
        <p:spPr>
          <a:xfrm>
            <a:off x="781050" y="3038475"/>
            <a:ext cx="10477500" cy="7429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Posts without a CTA average 353.68 interactions and 4.22% engagement. Posts with a CTA average 352.08 interactions and 4.19%.</a:t>
            </a:r>
          </a:p>
        </p:txBody>
      </p:sp>
      <p:sp>
        <p:nvSpPr>
          <p:cNvPr id="11" name="text">
            <a:extLst>
              <a:ext uri="{FF2B5EF4-FFF2-40B4-BE49-F238E27FC236}">
                <a16:creationId xmlns:a16="http://schemas.microsoft.com/office/drawing/2014/main" id="{26C87437-8DB7-490E-9059-FBA0377C1F61}"/>
              </a:ext>
            </a:extLst>
          </p:cNvPr>
          <p:cNvSpPr>
            <a:spLocks noGrp="1"/>
          </p:cNvSpPr>
          <p:nvPr/>
        </p:nvSpPr>
        <p:spPr>
          <a:xfrm>
            <a:off x="781050" y="392430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6  Reach and impressions are strongly related</a:t>
            </a:r>
          </a:p>
        </p:txBody>
      </p:sp>
      <p:sp>
        <p:nvSpPr>
          <p:cNvPr id="12" name="text">
            <a:extLst>
              <a:ext uri="{FF2B5EF4-FFF2-40B4-BE49-F238E27FC236}">
                <a16:creationId xmlns:a16="http://schemas.microsoft.com/office/drawing/2014/main" id="{781999AB-C225-4659-9ED0-4A0AC5EC5296}"/>
              </a:ext>
            </a:extLst>
          </p:cNvPr>
          <p:cNvSpPr>
            <a:spLocks noGrp="1"/>
          </p:cNvSpPr>
          <p:nvPr/>
        </p:nvSpPr>
        <p:spPr>
          <a:xfrm>
            <a:off x="781050" y="4286250"/>
            <a:ext cx="10477500" cy="6858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Their correlation is 0.99. Several interaction counts also move together. This is a relationship, not proof of cause.</a:t>
            </a:r>
          </a:p>
        </p:txBody>
      </p:sp>
      <p:sp>
        <p:nvSpPr>
          <p:cNvPr id="13" name="text">
            <a:extLst>
              <a:ext uri="{FF2B5EF4-FFF2-40B4-BE49-F238E27FC236}">
                <a16:creationId xmlns:a16="http://schemas.microsoft.com/office/drawing/2014/main" id="{7A5D6CDE-4855-4726-A2E1-4CCF2A1BCAB3}"/>
              </a:ext>
            </a:extLst>
          </p:cNvPr>
          <p:cNvSpPr>
            <a:spLocks noGrp="1"/>
          </p:cNvSpPr>
          <p:nvPr/>
        </p:nvSpPr>
        <p:spPr>
          <a:xfrm>
            <a:off x="781050" y="51149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Overall pattern</a:t>
            </a:r>
          </a:p>
        </p:txBody>
      </p:sp>
      <p:sp>
        <p:nvSpPr>
          <p:cNvPr id="14" name="text">
            <a:extLst>
              <a:ext uri="{FF2B5EF4-FFF2-40B4-BE49-F238E27FC236}">
                <a16:creationId xmlns:a16="http://schemas.microsoft.com/office/drawing/2014/main" id="{749D0E1D-687E-4865-A94E-0B1203C6CABA}"/>
              </a:ext>
            </a:extLst>
          </p:cNvPr>
          <p:cNvSpPr>
            <a:spLocks noGrp="1"/>
          </p:cNvSpPr>
          <p:nvPr/>
        </p:nvSpPr>
        <p:spPr>
          <a:xfrm>
            <a:off x="781050" y="5476875"/>
            <a:ext cx="10477500" cy="4953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Most group differences in this analysis are small.</a:t>
            </a:r>
          </a:p>
        </p:txBody>
      </p:sp>
    </p:spTree>
    <p:extLst>
      <p:ext uri="{BB962C8B-B14F-4D97-AF65-F5344CB8AC3E}">
        <p14:creationId xmlns:p14="http://schemas.microsoft.com/office/powerpoint/2010/main" val="938925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756B599-415D-402A-A927-0D353B7D34D5}"/>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solidFill>
            <a:srgbClr val="FFFFFF">
              <a:alpha val="86000"/>
            </a:srgbClr>
          </a:solidFill>
          <a:ln>
            <a:noFill/>
          </a:ln>
        </p:spPr>
        <p:txBody>
          <a:bodyPr rtlCol="0" anchor="ctr"/>
          <a:lstStyle/>
          <a:p>
            <a:endParaRPr lang="en-US"/>
          </a:p>
        </p:txBody>
      </p:sp>
      <p:sp>
        <p:nvSpPr>
          <p:cNvPr id="2" name="text">
            <a:extLst>
              <a:ext uri="{FF2B5EF4-FFF2-40B4-BE49-F238E27FC236}">
                <a16:creationId xmlns:a16="http://schemas.microsoft.com/office/drawing/2014/main" id="{5A88C02F-337C-466E-A0C1-3ADC132F0287}"/>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RECOMMENDATIONS</a:t>
            </a:r>
          </a:p>
        </p:txBody>
      </p:sp>
      <p:sp>
        <p:nvSpPr>
          <p:cNvPr id="3" name="text">
            <a:extLst>
              <a:ext uri="{FF2B5EF4-FFF2-40B4-BE49-F238E27FC236}">
                <a16:creationId xmlns:a16="http://schemas.microsoft.com/office/drawing/2014/main" id="{451CB2FB-3886-4398-B86B-61457FD82900}"/>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Recommendations and next steps</a:t>
            </a:r>
          </a:p>
        </p:txBody>
      </p:sp>
      <p:sp>
        <p:nvSpPr>
          <p:cNvPr id="4" name="accent-line">
            <a:extLst>
              <a:ext uri="{FF2B5EF4-FFF2-40B4-BE49-F238E27FC236}">
                <a16:creationId xmlns:a16="http://schemas.microsoft.com/office/drawing/2014/main" id="{2A48F1B3-82B4-4FDB-95DE-5A22352192B7}"/>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D534623D-C06D-49CA-9EB7-FBA05431C71E}"/>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5522760E-F9D5-4E9B-AC12-7D3205718E63}"/>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35</a:t>
            </a:r>
          </a:p>
        </p:txBody>
      </p:sp>
      <p:sp>
        <p:nvSpPr>
          <p:cNvPr id="7" name="text">
            <a:extLst>
              <a:ext uri="{FF2B5EF4-FFF2-40B4-BE49-F238E27FC236}">
                <a16:creationId xmlns:a16="http://schemas.microsoft.com/office/drawing/2014/main" id="{BE4ECC77-EF80-48A0-99CD-E55CD9EBAFBB}"/>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Test posts in a fair comparison</a:t>
            </a:r>
          </a:p>
        </p:txBody>
      </p:sp>
      <p:sp>
        <p:nvSpPr>
          <p:cNvPr id="8" name="text">
            <a:extLst>
              <a:ext uri="{FF2B5EF4-FFF2-40B4-BE49-F238E27FC236}">
                <a16:creationId xmlns:a16="http://schemas.microsoft.com/office/drawing/2014/main" id="{517A04C7-4118-449D-A577-94EE52E12292}"/>
              </a:ext>
            </a:extLst>
          </p:cNvPr>
          <p:cNvSpPr>
            <a:spLocks noGrp="1"/>
          </p:cNvSpPr>
          <p:nvPr/>
        </p:nvSpPr>
        <p:spPr>
          <a:xfrm>
            <a:off x="781050" y="1943100"/>
            <a:ext cx="10477500" cy="56197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Compare similar posts and change one thing at a time, such as format or CTA wording.</a:t>
            </a:r>
          </a:p>
        </p:txBody>
      </p:sp>
      <p:sp>
        <p:nvSpPr>
          <p:cNvPr id="9" name="text">
            <a:extLst>
              <a:ext uri="{FF2B5EF4-FFF2-40B4-BE49-F238E27FC236}">
                <a16:creationId xmlns:a16="http://schemas.microsoft.com/office/drawing/2014/main" id="{5A124C92-7D29-4A74-88AC-D273014E89FA}"/>
              </a:ext>
            </a:extLst>
          </p:cNvPr>
          <p:cNvSpPr>
            <a:spLocks noGrp="1"/>
          </p:cNvSpPr>
          <p:nvPr/>
        </p:nvSpPr>
        <p:spPr>
          <a:xfrm>
            <a:off x="781050" y="26479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Try different call-to-action wording</a:t>
            </a:r>
          </a:p>
        </p:txBody>
      </p:sp>
      <p:sp>
        <p:nvSpPr>
          <p:cNvPr id="10" name="text">
            <a:extLst>
              <a:ext uri="{FF2B5EF4-FFF2-40B4-BE49-F238E27FC236}">
                <a16:creationId xmlns:a16="http://schemas.microsoft.com/office/drawing/2014/main" id="{1AA47F59-786E-49EA-939F-CD1DC0DBC570}"/>
              </a:ext>
            </a:extLst>
          </p:cNvPr>
          <p:cNvSpPr>
            <a:spLocks noGrp="1"/>
          </p:cNvSpPr>
          <p:nvPr/>
        </p:nvSpPr>
        <p:spPr>
          <a:xfrm>
            <a:off x="781050" y="3009900"/>
            <a:ext cx="10477500" cy="5715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The average results are close, so test clear CTA styles on similar posts before choosing one.</a:t>
            </a:r>
          </a:p>
        </p:txBody>
      </p:sp>
      <p:sp>
        <p:nvSpPr>
          <p:cNvPr id="11" name="text">
            <a:extLst>
              <a:ext uri="{FF2B5EF4-FFF2-40B4-BE49-F238E27FC236}">
                <a16:creationId xmlns:a16="http://schemas.microsoft.com/office/drawing/2014/main" id="{063BA830-C3B3-49AB-AE01-496134D003BF}"/>
              </a:ext>
            </a:extLst>
          </p:cNvPr>
          <p:cNvSpPr>
            <a:spLocks noGrp="1"/>
          </p:cNvSpPr>
          <p:nvPr/>
        </p:nvSpPr>
        <p:spPr>
          <a:xfrm>
            <a:off x="781050" y="372427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Look beyond averages</a:t>
            </a:r>
          </a:p>
        </p:txBody>
      </p:sp>
      <p:sp>
        <p:nvSpPr>
          <p:cNvPr id="12" name="text">
            <a:extLst>
              <a:ext uri="{FF2B5EF4-FFF2-40B4-BE49-F238E27FC236}">
                <a16:creationId xmlns:a16="http://schemas.microsoft.com/office/drawing/2014/main" id="{7C330156-27AD-462C-9EAA-35D01ADAF128}"/>
              </a:ext>
            </a:extLst>
          </p:cNvPr>
          <p:cNvSpPr>
            <a:spLocks noGrp="1"/>
          </p:cNvSpPr>
          <p:nvPr/>
        </p:nvSpPr>
        <p:spPr>
          <a:xfrm>
            <a:off x="781050" y="4086225"/>
            <a:ext cx="10477500" cy="5905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Check medians and the spread of results. A few very high posts can raise the average.</a:t>
            </a:r>
          </a:p>
        </p:txBody>
      </p:sp>
      <p:sp>
        <p:nvSpPr>
          <p:cNvPr id="13" name="text">
            <a:extLst>
              <a:ext uri="{FF2B5EF4-FFF2-40B4-BE49-F238E27FC236}">
                <a16:creationId xmlns:a16="http://schemas.microsoft.com/office/drawing/2014/main" id="{122630D0-752C-4538-805B-8A3F4982EBC3}"/>
              </a:ext>
            </a:extLst>
          </p:cNvPr>
          <p:cNvSpPr>
            <a:spLocks noGrp="1"/>
          </p:cNvSpPr>
          <p:nvPr/>
        </p:nvSpPr>
        <p:spPr>
          <a:xfrm>
            <a:off x="781050" y="48196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Explore more factors</a:t>
            </a:r>
          </a:p>
        </p:txBody>
      </p:sp>
      <p:sp>
        <p:nvSpPr>
          <p:cNvPr id="14" name="text">
            <a:extLst>
              <a:ext uri="{FF2B5EF4-FFF2-40B4-BE49-F238E27FC236}">
                <a16:creationId xmlns:a16="http://schemas.microsoft.com/office/drawing/2014/main" id="{45263E19-E8EC-47B2-B3F8-68F04F9130E5}"/>
              </a:ext>
            </a:extLst>
          </p:cNvPr>
          <p:cNvSpPr>
            <a:spLocks noGrp="1"/>
          </p:cNvSpPr>
          <p:nvPr/>
        </p:nvSpPr>
        <p:spPr>
          <a:xfrm>
            <a:off x="781050" y="5181600"/>
            <a:ext cx="10477500" cy="5715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In future work, compare posting time, traffic source, content category, audience size, and media type.</a:t>
            </a:r>
          </a:p>
        </p:txBody>
      </p:sp>
    </p:spTree>
    <p:extLst>
      <p:ext uri="{BB962C8B-B14F-4D97-AF65-F5344CB8AC3E}">
        <p14:creationId xmlns:p14="http://schemas.microsoft.com/office/powerpoint/2010/main" val="10809005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C0F65A2-FAC8-4F16-A685-1F4A4271EF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91" name="Text panel"/>
          <p:cNvSpPr/>
          <p:nvPr/>
        </p:nvSpPr>
        <p:spPr>
          <a:xfrm>
            <a:off x="380000" y="200000"/>
            <a:ext cx="11430000" cy="6440000"/>
          </a:xfrm>
          <a:prstGeom prst="roundRect">
            <a:avLst>
              <a:gd name="adj" fmla="val 3500"/>
            </a:avLst>
          </a:prstGeom>
          <a:ln/>
        </p:spPr>
        <p:style>
          <a:lnRef idx="2">
            <a:schemeClr val="dk1"/>
          </a:lnRef>
          <a:fillRef idx="1">
            <a:schemeClr val="lt1"/>
          </a:fillRef>
          <a:effectRef idx="0">
            <a:schemeClr val="dk1"/>
          </a:effectRef>
          <a:fontRef idx="minor">
            <a:schemeClr val="dk1"/>
          </a:fontRef>
        </p:style>
        <p:txBody>
          <a:bodyPr rtlCol="0" anchor="ctr"/>
          <a:lstStyle/>
          <a:p>
            <a:endParaRPr lang="en-US"/>
          </a:p>
        </p:txBody>
      </p:sp>
      <p:sp>
        <p:nvSpPr>
          <p:cNvPr id="2" name="text">
            <a:extLst>
              <a:ext uri="{FF2B5EF4-FFF2-40B4-BE49-F238E27FC236}">
                <a16:creationId xmlns:a16="http://schemas.microsoft.com/office/drawing/2014/main" id="{061F8DA8-9D3E-4C7A-8448-93D9781F0478}"/>
              </a:ext>
            </a:extLst>
          </p:cNvPr>
          <p:cNvSpPr>
            <a:spLocks noGrp="1"/>
          </p:cNvSpPr>
          <p:nvPr/>
        </p:nvSpPr>
        <p:spPr>
          <a:xfrm>
            <a:off x="723900" y="323850"/>
            <a:ext cx="4000500" cy="209550"/>
          </a:xfrm>
          <a:prstGeom prst="rect">
            <a:avLst/>
          </a:prstGeom>
          <a:noFill/>
          <a:ln w="0">
            <a:noFill/>
            <a:prstDash val="solid"/>
          </a:ln>
        </p:spPr>
        <p:txBody>
          <a:bodyPr lIns="0" tIns="0" rIns="0" bIns="0" anchor="t">
            <a:normAutofit/>
          </a:bodyPr>
          <a:lstStyle>
            <a:defPPr algn="l">
              <a:defRPr sz="1050" b="1">
                <a:solidFill>
                  <a:srgbClr val="C83E79"/>
                </a:solidFill>
                <a:latin typeface="Arial"/>
                <a:ea typeface="Arial"/>
                <a:cs typeface="Arial"/>
              </a:defRPr>
            </a:defPPr>
          </a:lstStyle>
          <a:p>
            <a:pPr algn="l">
              <a:lnSpc>
                <a:spcPct val="104000"/>
              </a:lnSpc>
              <a:buNone/>
              <a:defRPr sz="1050" b="1">
                <a:solidFill>
                  <a:srgbClr val="C83E79"/>
                </a:solidFill>
                <a:latin typeface="Arial"/>
                <a:ea typeface="Arial"/>
                <a:cs typeface="Arial"/>
              </a:defRPr>
            </a:pPr>
            <a:r>
              <a:rPr sz="1050" b="1">
                <a:solidFill>
                  <a:srgbClr val="C83E79"/>
                </a:solidFill>
                <a:latin typeface="Arial"/>
                <a:ea typeface="Arial"/>
                <a:cs typeface="Arial"/>
              </a:rPr>
              <a:t>CONCLUSION</a:t>
            </a:r>
          </a:p>
        </p:txBody>
      </p:sp>
      <p:sp>
        <p:nvSpPr>
          <p:cNvPr id="3" name="text">
            <a:extLst>
              <a:ext uri="{FF2B5EF4-FFF2-40B4-BE49-F238E27FC236}">
                <a16:creationId xmlns:a16="http://schemas.microsoft.com/office/drawing/2014/main" id="{A8F85F27-B6F7-468F-9B9A-E6CD7DB640AD}"/>
              </a:ext>
            </a:extLst>
          </p:cNvPr>
          <p:cNvSpPr>
            <a:spLocks noGrp="1"/>
          </p:cNvSpPr>
          <p:nvPr/>
        </p:nvSpPr>
        <p:spPr>
          <a:xfrm>
            <a:off x="723900" y="600075"/>
            <a:ext cx="10668000" cy="552450"/>
          </a:xfrm>
          <a:prstGeom prst="rect">
            <a:avLst/>
          </a:prstGeom>
          <a:noFill/>
          <a:ln w="0">
            <a:noFill/>
            <a:prstDash val="solid"/>
          </a:ln>
        </p:spPr>
        <p:txBody>
          <a:bodyPr lIns="0" tIns="0" rIns="0" bIns="0" anchor="t">
            <a:normAutofit/>
          </a:bodyPr>
          <a:lstStyle>
            <a:defPPr algn="l">
              <a:defRPr sz="2550" b="1">
                <a:solidFill>
                  <a:srgbClr val="23223E"/>
                </a:solidFill>
                <a:latin typeface="Arial"/>
                <a:ea typeface="Arial"/>
                <a:cs typeface="Arial"/>
              </a:defRPr>
            </a:defPPr>
          </a:lstStyle>
          <a:p>
            <a:pPr algn="l">
              <a:lnSpc>
                <a:spcPct val="100000"/>
              </a:lnSpc>
              <a:buNone/>
              <a:defRPr sz="2550" b="1">
                <a:solidFill>
                  <a:srgbClr val="23223E"/>
                </a:solidFill>
                <a:latin typeface="Arial"/>
                <a:ea typeface="Arial"/>
                <a:cs typeface="Arial"/>
              </a:defRPr>
            </a:pPr>
            <a:r>
              <a:rPr sz="2550" b="1">
                <a:solidFill>
                  <a:srgbClr val="23223E"/>
                </a:solidFill>
                <a:latin typeface="Arial"/>
                <a:ea typeface="Arial"/>
                <a:cs typeface="Arial"/>
              </a:rPr>
              <a:t>Conclusion  What did this project help us learn?</a:t>
            </a:r>
          </a:p>
        </p:txBody>
      </p:sp>
      <p:sp>
        <p:nvSpPr>
          <p:cNvPr id="4" name="accent-line">
            <a:extLst>
              <a:ext uri="{FF2B5EF4-FFF2-40B4-BE49-F238E27FC236}">
                <a16:creationId xmlns:a16="http://schemas.microsoft.com/office/drawing/2014/main" id="{95505CDE-2980-41B9-B5AA-448B750146D8}"/>
              </a:ext>
            </a:extLst>
          </p:cNvPr>
          <p:cNvSpPr>
            <a:spLocks noGrp="1"/>
          </p:cNvSpPr>
          <p:nvPr/>
        </p:nvSpPr>
        <p:spPr>
          <a:xfrm>
            <a:off x="723900" y="1219200"/>
            <a:ext cx="685800" cy="47625"/>
          </a:xfrm>
          <a:prstGeom prst="rect">
            <a:avLst/>
          </a:prstGeom>
          <a:solidFill>
            <a:srgbClr val="C83E79"/>
          </a:solidFill>
          <a:ln w="0">
            <a:noFill/>
            <a:prstDash val="solid"/>
          </a:ln>
        </p:spPr>
        <p:txBody>
          <a:bodyPr/>
          <a:lstStyle/>
          <a:p>
            <a:endParaRPr lang="en-IN"/>
          </a:p>
        </p:txBody>
      </p:sp>
      <p:sp>
        <p:nvSpPr>
          <p:cNvPr id="5" name="text">
            <a:extLst>
              <a:ext uri="{FF2B5EF4-FFF2-40B4-BE49-F238E27FC236}">
                <a16:creationId xmlns:a16="http://schemas.microsoft.com/office/drawing/2014/main" id="{A29C8FE8-0685-4315-94A0-E7E2A3856D7A}"/>
              </a:ext>
            </a:extLst>
          </p:cNvPr>
          <p:cNvSpPr>
            <a:spLocks noGrp="1"/>
          </p:cNvSpPr>
          <p:nvPr/>
        </p:nvSpPr>
        <p:spPr>
          <a:xfrm>
            <a:off x="723900" y="6486525"/>
            <a:ext cx="2857500" cy="171450"/>
          </a:xfrm>
          <a:prstGeom prst="rect">
            <a:avLst/>
          </a:prstGeom>
          <a:noFill/>
          <a:ln w="0">
            <a:noFill/>
            <a:prstDash val="solid"/>
          </a:ln>
        </p:spPr>
        <p:txBody>
          <a:bodyPr lIns="0" tIns="0" rIns="0" bIns="0" anchor="t">
            <a:normAutofit/>
          </a:bodyPr>
          <a:lstStyle>
            <a:defPPr algn="l">
              <a:defRPr sz="975" b="0">
                <a:solidFill>
                  <a:srgbClr val="65667C"/>
                </a:solidFill>
                <a:latin typeface="Arial"/>
                <a:ea typeface="Arial"/>
                <a:cs typeface="Arial"/>
              </a:defRPr>
            </a:defPPr>
          </a:lstStyle>
          <a:p>
            <a:pPr algn="l">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Instagram Analytics</a:t>
            </a:r>
          </a:p>
        </p:txBody>
      </p:sp>
      <p:sp>
        <p:nvSpPr>
          <p:cNvPr id="6" name="text">
            <a:extLst>
              <a:ext uri="{FF2B5EF4-FFF2-40B4-BE49-F238E27FC236}">
                <a16:creationId xmlns:a16="http://schemas.microsoft.com/office/drawing/2014/main" id="{CF2F2526-A08F-4080-94CC-AD9C40A1C24C}"/>
              </a:ext>
            </a:extLst>
          </p:cNvPr>
          <p:cNvSpPr>
            <a:spLocks noGrp="1"/>
          </p:cNvSpPr>
          <p:nvPr/>
        </p:nvSpPr>
        <p:spPr>
          <a:xfrm>
            <a:off x="11049000" y="6486525"/>
            <a:ext cx="419100" cy="171450"/>
          </a:xfrm>
          <a:prstGeom prst="rect">
            <a:avLst/>
          </a:prstGeom>
          <a:noFill/>
          <a:ln w="0">
            <a:noFill/>
            <a:prstDash val="solid"/>
          </a:ln>
        </p:spPr>
        <p:txBody>
          <a:bodyPr lIns="0" tIns="0" rIns="0" bIns="0" anchor="t">
            <a:normAutofit/>
          </a:bodyPr>
          <a:lstStyle>
            <a:defPPr algn="r">
              <a:defRPr sz="975" b="0">
                <a:solidFill>
                  <a:srgbClr val="65667C"/>
                </a:solidFill>
                <a:latin typeface="Arial"/>
                <a:ea typeface="Arial"/>
                <a:cs typeface="Arial"/>
              </a:defRPr>
            </a:defPPr>
          </a:lstStyle>
          <a:p>
            <a:pPr algn="r">
              <a:lnSpc>
                <a:spcPct val="104000"/>
              </a:lnSpc>
              <a:buNone/>
              <a:defRPr sz="975" b="0">
                <a:solidFill>
                  <a:srgbClr val="65667C"/>
                </a:solidFill>
                <a:latin typeface="Arial"/>
                <a:ea typeface="Arial"/>
                <a:cs typeface="Arial"/>
              </a:defRPr>
            </a:pPr>
            <a:r>
              <a:rPr sz="975" b="0">
                <a:solidFill>
                  <a:srgbClr val="65667C"/>
                </a:solidFill>
                <a:latin typeface="Arial"/>
                <a:ea typeface="Arial"/>
                <a:cs typeface="Arial"/>
              </a:rPr>
              <a:t>36</a:t>
            </a:r>
          </a:p>
        </p:txBody>
      </p:sp>
      <p:sp>
        <p:nvSpPr>
          <p:cNvPr id="7" name="text">
            <a:extLst>
              <a:ext uri="{FF2B5EF4-FFF2-40B4-BE49-F238E27FC236}">
                <a16:creationId xmlns:a16="http://schemas.microsoft.com/office/drawing/2014/main" id="{79CCDE4A-E4DA-4B26-970F-DAEDDF4BACC5}"/>
              </a:ext>
            </a:extLst>
          </p:cNvPr>
          <p:cNvSpPr>
            <a:spLocks noGrp="1"/>
          </p:cNvSpPr>
          <p:nvPr/>
        </p:nvSpPr>
        <p:spPr>
          <a:xfrm>
            <a:off x="781050" y="15811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The value of the analysis</a:t>
            </a:r>
          </a:p>
        </p:txBody>
      </p:sp>
      <p:sp>
        <p:nvSpPr>
          <p:cNvPr id="8" name="text">
            <a:extLst>
              <a:ext uri="{FF2B5EF4-FFF2-40B4-BE49-F238E27FC236}">
                <a16:creationId xmlns:a16="http://schemas.microsoft.com/office/drawing/2014/main" id="{BED68E5A-5D50-41D1-9760-80A447BE3CA5}"/>
              </a:ext>
            </a:extLst>
          </p:cNvPr>
          <p:cNvSpPr>
            <a:spLocks noGrp="1"/>
          </p:cNvSpPr>
          <p:nvPr/>
        </p:nvSpPr>
        <p:spPr>
          <a:xfrm>
            <a:off x="781050" y="1943100"/>
            <a:ext cx="10477500" cy="59055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Cleaning and organizing the CSV made it easier to compare posts and understand what the columns mean.</a:t>
            </a:r>
          </a:p>
        </p:txBody>
      </p:sp>
      <p:sp>
        <p:nvSpPr>
          <p:cNvPr id="9" name="text">
            <a:extLst>
              <a:ext uri="{FF2B5EF4-FFF2-40B4-BE49-F238E27FC236}">
                <a16:creationId xmlns:a16="http://schemas.microsoft.com/office/drawing/2014/main" id="{51F957C1-C148-40DC-B9B0-AAB1987D7A4E}"/>
              </a:ext>
            </a:extLst>
          </p:cNvPr>
          <p:cNvSpPr>
            <a:spLocks noGrp="1"/>
          </p:cNvSpPr>
          <p:nvPr/>
        </p:nvSpPr>
        <p:spPr>
          <a:xfrm>
            <a:off x="781050" y="267652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What we found</a:t>
            </a:r>
          </a:p>
        </p:txBody>
      </p:sp>
      <p:sp>
        <p:nvSpPr>
          <p:cNvPr id="10" name="text">
            <a:extLst>
              <a:ext uri="{FF2B5EF4-FFF2-40B4-BE49-F238E27FC236}">
                <a16:creationId xmlns:a16="http://schemas.microsoft.com/office/drawing/2014/main" id="{22728E79-B326-4964-BD10-19BE1E0FA877}"/>
              </a:ext>
            </a:extLst>
          </p:cNvPr>
          <p:cNvSpPr>
            <a:spLocks noGrp="1"/>
          </p:cNvSpPr>
          <p:nvPr/>
        </p:nvSpPr>
        <p:spPr>
          <a:xfrm>
            <a:off x="781050" y="3038475"/>
            <a:ext cx="10477500" cy="7239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dirty="0">
                <a:solidFill>
                  <a:srgbClr val="34364F"/>
                </a:solidFill>
                <a:latin typeface="Arial"/>
                <a:ea typeface="Arial"/>
                <a:cs typeface="Arial"/>
              </a:rPr>
              <a:t>Media types, content categories, and CTA </a:t>
            </a:r>
            <a:r>
              <a:rPr lang="en-US" sz="1650" b="0" dirty="0">
                <a:solidFill>
                  <a:srgbClr val="34364F"/>
                </a:solidFill>
                <a:latin typeface="Arial"/>
                <a:ea typeface="Arial"/>
                <a:cs typeface="Arial"/>
              </a:rPr>
              <a:t>(call to action) </a:t>
            </a:r>
            <a:r>
              <a:rPr sz="1650" b="0" dirty="0">
                <a:solidFill>
                  <a:srgbClr val="34364F"/>
                </a:solidFill>
                <a:latin typeface="Arial"/>
                <a:ea typeface="Arial"/>
                <a:cs typeface="Arial"/>
              </a:rPr>
              <a:t>groups had similar average results in this dataset. Reach and impressions moved very closely together.</a:t>
            </a:r>
          </a:p>
        </p:txBody>
      </p:sp>
      <p:sp>
        <p:nvSpPr>
          <p:cNvPr id="11" name="text">
            <a:extLst>
              <a:ext uri="{FF2B5EF4-FFF2-40B4-BE49-F238E27FC236}">
                <a16:creationId xmlns:a16="http://schemas.microsoft.com/office/drawing/2014/main" id="{B0CF72B5-A86A-438C-ABFA-544E4BC92D1B}"/>
              </a:ext>
            </a:extLst>
          </p:cNvPr>
          <p:cNvSpPr>
            <a:spLocks noGrp="1"/>
          </p:cNvSpPr>
          <p:nvPr/>
        </p:nvSpPr>
        <p:spPr>
          <a:xfrm>
            <a:off x="781050" y="3905250"/>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How a creator can use it</a:t>
            </a:r>
          </a:p>
        </p:txBody>
      </p:sp>
      <p:sp>
        <p:nvSpPr>
          <p:cNvPr id="12" name="text">
            <a:extLst>
              <a:ext uri="{FF2B5EF4-FFF2-40B4-BE49-F238E27FC236}">
                <a16:creationId xmlns:a16="http://schemas.microsoft.com/office/drawing/2014/main" id="{BC6E3B2B-400A-4405-8D07-D3DE0CD539DC}"/>
              </a:ext>
            </a:extLst>
          </p:cNvPr>
          <p:cNvSpPr>
            <a:spLocks noGrp="1"/>
          </p:cNvSpPr>
          <p:nvPr/>
        </p:nvSpPr>
        <p:spPr>
          <a:xfrm>
            <a:off x="781050" y="4267200"/>
            <a:ext cx="10477500" cy="647700"/>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gn="l">
              <a:lnSpc>
                <a:spcPct val="108000"/>
              </a:lnSpc>
              <a:buNone/>
              <a:defRPr sz="1650" b="0">
                <a:solidFill>
                  <a:srgbClr val="34364F"/>
                </a:solidFill>
                <a:latin typeface="Arial"/>
                <a:ea typeface="Arial"/>
                <a:cs typeface="Arial"/>
              </a:defRPr>
            </a:pPr>
            <a:r>
              <a:rPr sz="1650" b="0">
                <a:solidFill>
                  <a:srgbClr val="34364F"/>
                </a:solidFill>
                <a:latin typeface="Arial"/>
                <a:ea typeface="Arial"/>
                <a:cs typeface="Arial"/>
              </a:rPr>
              <a:t>Use these findings to plan small tests, learn from the results, and make content decisions based on evidence.</a:t>
            </a:r>
          </a:p>
        </p:txBody>
      </p:sp>
      <p:sp>
        <p:nvSpPr>
          <p:cNvPr id="13" name="text">
            <a:extLst>
              <a:ext uri="{FF2B5EF4-FFF2-40B4-BE49-F238E27FC236}">
                <a16:creationId xmlns:a16="http://schemas.microsoft.com/office/drawing/2014/main" id="{9747E13B-2596-4CEA-A61C-455F8AE2FD86}"/>
              </a:ext>
            </a:extLst>
          </p:cNvPr>
          <p:cNvSpPr>
            <a:spLocks noGrp="1"/>
          </p:cNvSpPr>
          <p:nvPr/>
        </p:nvSpPr>
        <p:spPr>
          <a:xfrm>
            <a:off x="781050" y="5057775"/>
            <a:ext cx="10287000" cy="304800"/>
          </a:xfrm>
          <a:prstGeom prst="rect">
            <a:avLst/>
          </a:prstGeom>
          <a:noFill/>
          <a:ln w="0">
            <a:noFill/>
            <a:prstDash val="solid"/>
          </a:ln>
        </p:spPr>
        <p:txBody>
          <a:bodyPr lIns="0" tIns="0" rIns="0" bIns="0" anchor="t">
            <a:normAutofit/>
          </a:bodyPr>
          <a:lstStyle>
            <a:defPPr algn="l">
              <a:defRPr sz="1725" b="1">
                <a:solidFill>
                  <a:srgbClr val="C83E79"/>
                </a:solidFill>
                <a:latin typeface="Arial"/>
                <a:ea typeface="Arial"/>
                <a:cs typeface="Arial"/>
              </a:defRPr>
            </a:defPPr>
          </a:lstStyle>
          <a:p>
            <a:pPr algn="l">
              <a:lnSpc>
                <a:spcPct val="104000"/>
              </a:lnSpc>
              <a:buNone/>
              <a:defRPr sz="1725" b="1">
                <a:solidFill>
                  <a:srgbClr val="C83E79"/>
                </a:solidFill>
                <a:latin typeface="Arial"/>
                <a:ea typeface="Arial"/>
                <a:cs typeface="Arial"/>
              </a:defRPr>
            </a:pPr>
            <a:r>
              <a:rPr sz="1725" b="1">
                <a:solidFill>
                  <a:srgbClr val="C83E79"/>
                </a:solidFill>
                <a:latin typeface="Arial"/>
                <a:ea typeface="Arial"/>
                <a:cs typeface="Arial"/>
              </a:rPr>
              <a:t>Final reminder</a:t>
            </a:r>
          </a:p>
        </p:txBody>
      </p:sp>
      <p:sp>
        <p:nvSpPr>
          <p:cNvPr id="14" name="text">
            <a:extLst>
              <a:ext uri="{FF2B5EF4-FFF2-40B4-BE49-F238E27FC236}">
                <a16:creationId xmlns:a16="http://schemas.microsoft.com/office/drawing/2014/main" id="{71B95F69-069A-4E6D-AA48-7A921CFBC56D}"/>
              </a:ext>
            </a:extLst>
          </p:cNvPr>
          <p:cNvSpPr>
            <a:spLocks noGrp="1"/>
          </p:cNvSpPr>
          <p:nvPr/>
        </p:nvSpPr>
        <p:spPr>
          <a:xfrm>
            <a:off x="781050" y="5419724"/>
            <a:ext cx="10477500" cy="1048825"/>
          </a:xfrm>
          <a:prstGeom prst="rect">
            <a:avLst/>
          </a:prstGeom>
          <a:noFill/>
          <a:ln w="0">
            <a:noFill/>
            <a:prstDash val="solid"/>
          </a:ln>
        </p:spPr>
        <p:txBody>
          <a:bodyPr lIns="0" tIns="0" rIns="0" bIns="0" anchor="t">
            <a:normAutofit/>
          </a:bodyPr>
          <a:lstStyle>
            <a:defPPr algn="l">
              <a:defRPr sz="1650" b="0">
                <a:solidFill>
                  <a:srgbClr val="34364F"/>
                </a:solidFill>
                <a:latin typeface="Arial"/>
                <a:ea typeface="Arial"/>
                <a:cs typeface="Arial"/>
              </a:defRPr>
            </a:defPPr>
          </a:lstStyle>
          <a:p>
            <a:pPr>
              <a:lnSpc>
                <a:spcPct val="108000"/>
              </a:lnSpc>
              <a:defRPr sz="1650" b="0">
                <a:solidFill>
                  <a:srgbClr val="34364F"/>
                </a:solidFill>
                <a:latin typeface="Arial"/>
                <a:ea typeface="Arial"/>
                <a:cs typeface="Arial"/>
              </a:defRPr>
            </a:pPr>
            <a:r>
              <a:rPr sz="1650" b="0" dirty="0">
                <a:solidFill>
                  <a:srgbClr val="34364F"/>
                </a:solidFill>
                <a:latin typeface="Arial"/>
                <a:ea typeface="Arial"/>
                <a:cs typeface="Arial"/>
              </a:rPr>
              <a:t>T</a:t>
            </a:r>
            <a:r>
              <a:rPr lang="en-US" sz="1650" dirty="0">
                <a:solidFill>
                  <a:srgbClr val="34364F"/>
                </a:solidFill>
                <a:latin typeface="Arial"/>
                <a:ea typeface="Arial"/>
                <a:cs typeface="Arial"/>
              </a:rPr>
              <a:t>hese results show what we found in our data. We need to test more posts to understand what really works</a:t>
            </a:r>
            <a:r>
              <a:rPr sz="1650" b="0" dirty="0">
                <a:solidFill>
                  <a:srgbClr val="34364F"/>
                </a:solidFill>
                <a:latin typeface="Arial"/>
                <a:ea typeface="Arial"/>
                <a:cs typeface="Arial"/>
              </a:rPr>
              <a:t>.</a:t>
            </a:r>
            <a:endParaRPr lang="en-US" sz="1650" b="0" dirty="0">
              <a:solidFill>
                <a:srgbClr val="34364F"/>
              </a:solidFill>
              <a:latin typeface="Arial"/>
              <a:ea typeface="Arial"/>
              <a:cs typeface="Arial"/>
            </a:endParaRPr>
          </a:p>
          <a:p>
            <a:pPr>
              <a:lnSpc>
                <a:spcPct val="108000"/>
              </a:lnSpc>
              <a:defRPr sz="1650" b="0">
                <a:solidFill>
                  <a:srgbClr val="34364F"/>
                </a:solidFill>
                <a:latin typeface="Arial"/>
                <a:ea typeface="Arial"/>
                <a:cs typeface="Arial"/>
              </a:defRPr>
            </a:pPr>
            <a:endParaRPr lang="en-IN" sz="1650" dirty="0">
              <a:solidFill>
                <a:srgbClr val="34364F"/>
              </a:solidFill>
              <a:latin typeface="Arial"/>
              <a:ea typeface="Arial"/>
              <a:cs typeface="Arial"/>
            </a:endParaRPr>
          </a:p>
          <a:p>
            <a:pPr>
              <a:lnSpc>
                <a:spcPct val="108000"/>
              </a:lnSpc>
              <a:defRPr sz="1650" b="0">
                <a:solidFill>
                  <a:srgbClr val="34364F"/>
                </a:solidFill>
                <a:latin typeface="Arial"/>
                <a:ea typeface="Arial"/>
                <a:cs typeface="Arial"/>
              </a:defRPr>
            </a:pPr>
            <a:r>
              <a:rPr lang="en-IN" sz="2000" b="1" dirty="0">
                <a:solidFill>
                  <a:srgbClr val="34364F"/>
                </a:solidFill>
                <a:latin typeface="Arial"/>
                <a:ea typeface="Arial"/>
                <a:cs typeface="Arial"/>
              </a:rPr>
              <a:t>Thankyou for listening to my presentation.</a:t>
            </a:r>
          </a:p>
        </p:txBody>
      </p:sp>
    </p:spTree>
    <p:extLst>
      <p:ext uri="{BB962C8B-B14F-4D97-AF65-F5344CB8AC3E}">
        <p14:creationId xmlns:p14="http://schemas.microsoft.com/office/powerpoint/2010/main" val="162046442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1228</TotalTime>
  <Words>4990</Words>
  <Application>Microsoft Office PowerPoint</Application>
  <DocSecurity>0</DocSecurity>
  <PresentationFormat>Widescreen</PresentationFormat>
  <Paragraphs>520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LENOVO</cp:lastModifiedBy>
  <cp:revision>3</cp:revision>
  <dcterms:created xsi:type="dcterms:W3CDTF">2026-10-09T23:08:21Z</dcterms:created>
  <dcterms:modified xsi:type="dcterms:W3CDTF">2026-10-14T18:48:58Z</dcterms:modified>
</cp:coreProperties>
</file>